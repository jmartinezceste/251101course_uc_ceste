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4"/>
  </p:sldMasterIdLst>
  <p:notesMasterIdLst>
    <p:notesMasterId r:id="rId22"/>
  </p:notesMasterIdLst>
  <p:handoutMasterIdLst>
    <p:handoutMasterId r:id="rId23"/>
  </p:handoutMasterIdLst>
  <p:sldIdLst>
    <p:sldId id="295" r:id="rId5"/>
    <p:sldId id="2147474066" r:id="rId6"/>
    <p:sldId id="2147474067" r:id="rId7"/>
    <p:sldId id="2147474060" r:id="rId8"/>
    <p:sldId id="2147474071" r:id="rId9"/>
    <p:sldId id="2147474081" r:id="rId10"/>
    <p:sldId id="2147474073" r:id="rId11"/>
    <p:sldId id="2147474074" r:id="rId12"/>
    <p:sldId id="2147474075" r:id="rId13"/>
    <p:sldId id="2147474082" r:id="rId14"/>
    <p:sldId id="2147474076" r:id="rId15"/>
    <p:sldId id="2147474077" r:id="rId16"/>
    <p:sldId id="2147474079" r:id="rId17"/>
    <p:sldId id="2147474083" r:id="rId18"/>
    <p:sldId id="2147474080" r:id="rId19"/>
    <p:sldId id="2147474078" r:id="rId20"/>
    <p:sldId id="257" r:id="rId21"/>
  </p:sldIdLst>
  <p:sldSz cx="9144000" cy="6858000" type="screen4x3"/>
  <p:notesSz cx="6797675" cy="9926638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38D0F0A-DE05-4A42-9708-06B99D495EB7}">
          <p14:sldIdLst>
            <p14:sldId id="295"/>
            <p14:sldId id="2147474066"/>
            <p14:sldId id="2147474067"/>
            <p14:sldId id="2147474060"/>
            <p14:sldId id="2147474071"/>
            <p14:sldId id="2147474081"/>
            <p14:sldId id="2147474073"/>
            <p14:sldId id="2147474074"/>
            <p14:sldId id="2147474075"/>
            <p14:sldId id="2147474082"/>
            <p14:sldId id="2147474076"/>
            <p14:sldId id="2147474077"/>
            <p14:sldId id="2147474079"/>
            <p14:sldId id="2147474083"/>
            <p14:sldId id="2147474080"/>
            <p14:sldId id="2147474078"/>
          </p14:sldIdLst>
        </p14:section>
        <p14:section name="Fin" id="{9CF3C226-B334-4E16-8AF2-95D0DE59AB66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55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7BC8"/>
    <a:srgbClr val="82AAFF"/>
    <a:srgbClr val="DA0CFC"/>
    <a:srgbClr val="F2F2F2"/>
    <a:srgbClr val="BA6220"/>
    <a:srgbClr val="BC781E"/>
    <a:srgbClr val="203864"/>
    <a:srgbClr val="9B8ED2"/>
    <a:srgbClr val="B9D9A3"/>
    <a:srgbClr val="C8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0" autoAdjust="0"/>
    <p:restoredTop sz="75126" autoAdjust="0"/>
  </p:normalViewPr>
  <p:slideViewPr>
    <p:cSldViewPr>
      <p:cViewPr>
        <p:scale>
          <a:sx n="125" d="100"/>
          <a:sy n="125" d="100"/>
        </p:scale>
        <p:origin x="2424" y="90"/>
      </p:cViewPr>
      <p:guideLst>
        <p:guide orient="horz" pos="799"/>
        <p:guide pos="249"/>
        <p:guide pos="551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B7E6F-32B6-4D71-B377-734A03E6F81B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D2714-3170-454D-BDE7-33312AC051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0369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6DFC6-7D9C-4B63-B8DE-A4BEF9511721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F8B64C-EDD0-41C9-AB7F-26F0E93D38A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4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69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0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Hoy nos centraremos en …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90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59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Con delta </a:t>
            </a:r>
            <a:r>
              <a:rPr lang="es-ES" sz="1200" dirty="0" err="1"/>
              <a:t>sharing</a:t>
            </a:r>
            <a:r>
              <a:rPr lang="es-ES" sz="1200" dirty="0"/>
              <a:t> puedes compartir datos y activos. Incluyendo tablas, vistas, modelos y catálogos federados!</a:t>
            </a:r>
          </a:p>
          <a:p>
            <a:r>
              <a:rPr lang="es-ES" sz="1200" dirty="0"/>
              <a:t>El receptor no tiene porque ser un usuario de </a:t>
            </a:r>
            <a:r>
              <a:rPr lang="es-ES" sz="1200" dirty="0" err="1"/>
              <a:t>databricks</a:t>
            </a:r>
            <a:r>
              <a:rPr lang="es-ES" sz="1200" dirty="0"/>
              <a:t>. El consumidor puede ser Spark, pandas, </a:t>
            </a:r>
            <a:r>
              <a:rPr lang="es-ES" sz="1200" dirty="0" err="1"/>
              <a:t>powerbi</a:t>
            </a:r>
            <a:r>
              <a:rPr lang="es-ES" sz="1200" dirty="0"/>
              <a:t>… (lo que aparece en la imagen)</a:t>
            </a:r>
          </a:p>
          <a:p>
            <a:endParaRPr lang="es-ES" dirty="0"/>
          </a:p>
          <a:p>
            <a:r>
              <a:rPr lang="es-ES" dirty="0"/>
              <a:t>⚙️ 1. Qué </a:t>
            </a:r>
            <a:r>
              <a:rPr lang="es-ES" i="1" dirty="0"/>
              <a:t>no</a:t>
            </a:r>
            <a:r>
              <a:rPr lang="es-ES" dirty="0"/>
              <a:t> hace Delta </a:t>
            </a:r>
            <a:r>
              <a:rPr lang="es-ES" dirty="0" err="1"/>
              <a:t>Sharing</a:t>
            </a:r>
            <a:endParaRPr lang="es-ES" dirty="0"/>
          </a:p>
          <a:p>
            <a:r>
              <a:rPr lang="es-ES" dirty="0"/>
              <a:t>No mueve, copia ni duplica los datos.</a:t>
            </a:r>
            <a:br>
              <a:rPr lang="es-ES" dirty="0"/>
            </a:br>
            <a:r>
              <a:rPr lang="es-ES" dirty="0"/>
              <a:t>👉 No hay transferencia de archivos entre sistemas (ni S3 → cliente, ni </a:t>
            </a:r>
            <a:r>
              <a:rPr lang="es-ES" dirty="0" err="1"/>
              <a:t>Databricks</a:t>
            </a:r>
            <a:r>
              <a:rPr lang="es-ES" dirty="0"/>
              <a:t> → Power BI).</a:t>
            </a:r>
            <a:br>
              <a:rPr lang="es-ES" dirty="0"/>
            </a:br>
            <a:r>
              <a:rPr lang="es-ES" dirty="0"/>
              <a:t>Los datos </a:t>
            </a:r>
            <a:r>
              <a:rPr lang="es-ES" b="1" dirty="0"/>
              <a:t>siguen viviendo en el mismo </a:t>
            </a:r>
            <a:r>
              <a:rPr lang="es-ES" b="1" dirty="0" err="1"/>
              <a:t>storage</a:t>
            </a:r>
            <a:r>
              <a:rPr lang="es-ES" dirty="0"/>
              <a:t> (por ejemplo, un </a:t>
            </a:r>
            <a:r>
              <a:rPr lang="es-ES" dirty="0" err="1"/>
              <a:t>bucket</a:t>
            </a:r>
            <a:r>
              <a:rPr lang="es-ES" dirty="0"/>
              <a:t> S3 o contenedor ADLS).</a:t>
            </a:r>
          </a:p>
          <a:p>
            <a:r>
              <a:rPr lang="es-ES" dirty="0"/>
              <a:t>🧩 2. Qué sí hace: “protocolo abierto de lectura segura”</a:t>
            </a:r>
          </a:p>
          <a:p>
            <a:r>
              <a:rPr lang="es-ES" dirty="0"/>
              <a:t>Delta </a:t>
            </a:r>
            <a:r>
              <a:rPr lang="es-ES" dirty="0" err="1"/>
              <a:t>Sharing</a:t>
            </a:r>
            <a:r>
              <a:rPr lang="es-ES" dirty="0"/>
              <a:t> define un </a:t>
            </a:r>
            <a:r>
              <a:rPr lang="es-ES" b="1" dirty="0"/>
              <a:t>protocolo REST + formato </a:t>
            </a:r>
            <a:r>
              <a:rPr lang="es-ES" b="1" dirty="0" err="1"/>
              <a:t>parquet</a:t>
            </a:r>
            <a:r>
              <a:rPr lang="es-ES" b="1" dirty="0"/>
              <a:t>/delta</a:t>
            </a:r>
            <a:r>
              <a:rPr lang="es-ES" dirty="0"/>
              <a:t> que permite a un </a:t>
            </a:r>
            <a:r>
              <a:rPr lang="es-ES" i="1" dirty="0"/>
              <a:t>receptor autorizado</a:t>
            </a:r>
            <a:r>
              <a:rPr lang="es-ES" dirty="0"/>
              <a:t> leer porciones de una tabla directamente del </a:t>
            </a:r>
            <a:r>
              <a:rPr lang="es-ES" b="1" dirty="0" err="1"/>
              <a:t>storage</a:t>
            </a:r>
            <a:r>
              <a:rPr lang="es-ES" b="1" dirty="0"/>
              <a:t> del proveedor</a:t>
            </a:r>
            <a:r>
              <a:rPr lang="es-ES" dirty="0"/>
              <a:t>.</a:t>
            </a:r>
          </a:p>
          <a:p>
            <a:r>
              <a:rPr lang="es-ES" dirty="0"/>
              <a:t>Simplificando, el flujo es así:</a:t>
            </a:r>
          </a:p>
          <a:p>
            <a:r>
              <a:rPr lang="es-ES" b="1" dirty="0"/>
              <a:t>El proveedor (</a:t>
            </a:r>
            <a:r>
              <a:rPr lang="es-ES" b="1" dirty="0" err="1"/>
              <a:t>Databricks</a:t>
            </a:r>
            <a:r>
              <a:rPr lang="es-ES" b="1" dirty="0"/>
              <a:t>)</a:t>
            </a:r>
            <a:r>
              <a:rPr lang="es-ES" dirty="0"/>
              <a:t> tiene las tablas Delta en su </a:t>
            </a:r>
            <a:r>
              <a:rPr lang="es-ES" dirty="0" err="1"/>
              <a:t>Lakehouse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Ejemplo: abfss://bronze@storageaccount.dfs.core.windows.net/sales_data</a:t>
            </a:r>
          </a:p>
          <a:p>
            <a:r>
              <a:rPr lang="es-ES" dirty="0"/>
              <a:t>Cuando creas un SHARE, Unity </a:t>
            </a:r>
            <a:r>
              <a:rPr lang="es-ES" dirty="0" err="1"/>
              <a:t>Catalog</a:t>
            </a:r>
            <a:r>
              <a:rPr lang="es-ES" dirty="0"/>
              <a:t> guarda </a:t>
            </a:r>
            <a:r>
              <a:rPr lang="es-ES" b="1" dirty="0"/>
              <a:t>metadatos</a:t>
            </a:r>
            <a:r>
              <a:rPr lang="es-ES" dirty="0"/>
              <a:t> sobre qué tablas se comparten y qué versiones están permitidas.</a:t>
            </a:r>
          </a:p>
          <a:p>
            <a:r>
              <a:rPr lang="es-ES" dirty="0"/>
              <a:t>Al crear un RECIPIENT, </a:t>
            </a:r>
            <a:r>
              <a:rPr lang="es-ES" dirty="0" err="1"/>
              <a:t>Databricks</a:t>
            </a:r>
            <a:r>
              <a:rPr lang="es-ES" dirty="0"/>
              <a:t> genera un </a:t>
            </a:r>
            <a:r>
              <a:rPr lang="es-ES" b="1" dirty="0"/>
              <a:t>token de acceso</a:t>
            </a:r>
            <a:r>
              <a:rPr lang="es-ES" dirty="0"/>
              <a:t> y una </a:t>
            </a:r>
            <a:r>
              <a:rPr lang="es-ES" b="1" dirty="0"/>
              <a:t>URL segura</a:t>
            </a:r>
            <a:r>
              <a:rPr lang="es-ES" dirty="0"/>
              <a:t> (</a:t>
            </a:r>
            <a:r>
              <a:rPr lang="es-ES" dirty="0" err="1"/>
              <a:t>endpoint</a:t>
            </a:r>
            <a:r>
              <a:rPr lang="es-ES" dirty="0"/>
              <a:t> REST) llamada </a:t>
            </a:r>
            <a:r>
              <a:rPr lang="es-ES" i="1" dirty="0"/>
              <a:t>Delta </a:t>
            </a:r>
            <a:r>
              <a:rPr lang="es-ES" i="1" dirty="0" err="1"/>
              <a:t>Sharing</a:t>
            </a:r>
            <a:r>
              <a:rPr lang="es-ES" i="1" dirty="0"/>
              <a:t> Server </a:t>
            </a:r>
            <a:r>
              <a:rPr lang="es-ES" i="1" dirty="0" err="1"/>
              <a:t>Endpoint</a:t>
            </a:r>
            <a:r>
              <a:rPr lang="es-ES" dirty="0"/>
              <a:t>.</a:t>
            </a:r>
          </a:p>
          <a:p>
            <a:r>
              <a:rPr lang="es-ES" dirty="0"/>
              <a:t>Cuando el receptor abre el fichero .share y lanza una </a:t>
            </a:r>
            <a:r>
              <a:rPr lang="es-ES" dirty="0" err="1"/>
              <a:t>query</a:t>
            </a:r>
            <a:r>
              <a:rPr lang="es-ES" dirty="0"/>
              <a:t> (por ejemplo, desde Pandas o Power BI), ocurre esto:</a:t>
            </a:r>
          </a:p>
          <a:p>
            <a:endParaRPr lang="es-ES" dirty="0"/>
          </a:p>
          <a:p>
            <a:r>
              <a:rPr lang="es-ES" dirty="0"/>
              <a:t>🔒 4. Seguridad y aislamiento</a:t>
            </a:r>
          </a:p>
          <a:p>
            <a:r>
              <a:rPr lang="es-ES" dirty="0"/>
              <a:t>Los datos no se exponen públicamente: solo se sirven mediante </a:t>
            </a:r>
            <a:r>
              <a:rPr lang="es-ES" b="1" dirty="0" err="1"/>
              <a:t>URLs</a:t>
            </a:r>
            <a:r>
              <a:rPr lang="es-ES" b="1" dirty="0"/>
              <a:t> </a:t>
            </a:r>
            <a:r>
              <a:rPr lang="es-ES" b="1" dirty="0" err="1"/>
              <a:t>pre-firmadas</a:t>
            </a:r>
            <a:r>
              <a:rPr lang="es-ES" b="1" dirty="0"/>
              <a:t> HTTPS</a:t>
            </a:r>
            <a:r>
              <a:rPr lang="es-ES" dirty="0"/>
              <a:t>.</a:t>
            </a:r>
          </a:p>
          <a:p>
            <a:r>
              <a:rPr lang="es-ES" dirty="0"/>
              <a:t>Cada receptor tiene su propio token (revocable).</a:t>
            </a:r>
          </a:p>
          <a:p>
            <a:r>
              <a:rPr lang="es-ES" dirty="0"/>
              <a:t>Puedes limitar qué columnas, qué versiones y qué tiempo de acceso.</a:t>
            </a:r>
          </a:p>
          <a:p>
            <a:r>
              <a:rPr lang="es-ES" dirty="0"/>
              <a:t>Unity </a:t>
            </a:r>
            <a:r>
              <a:rPr lang="es-ES" dirty="0" err="1"/>
              <a:t>Catalog</a:t>
            </a:r>
            <a:r>
              <a:rPr lang="es-ES" dirty="0"/>
              <a:t> registra logs y auditorías de acceso.</a:t>
            </a:r>
          </a:p>
          <a:p>
            <a:r>
              <a:rPr lang="es-ES" dirty="0"/>
              <a:t>🌍 5. Qué ve el receptor</a:t>
            </a:r>
          </a:p>
          <a:p>
            <a:r>
              <a:rPr lang="es-ES" dirty="0"/>
              <a:t>Depende del cliente:</a:t>
            </a:r>
          </a:p>
          <a:p>
            <a:r>
              <a:rPr lang="es-ES" dirty="0"/>
              <a:t>Power </a:t>
            </a:r>
            <a:r>
              <a:rPr lang="es-ES" dirty="0" err="1"/>
              <a:t>BILectura</a:t>
            </a:r>
            <a:r>
              <a:rPr lang="es-ES" dirty="0"/>
              <a:t> vía “Delta </a:t>
            </a:r>
            <a:r>
              <a:rPr lang="es-ES" dirty="0" err="1"/>
              <a:t>Sharing</a:t>
            </a:r>
            <a:r>
              <a:rPr lang="es-ES" dirty="0"/>
              <a:t> </a:t>
            </a:r>
            <a:r>
              <a:rPr lang="es-ES" dirty="0" err="1"/>
              <a:t>Connector</a:t>
            </a:r>
            <a:r>
              <a:rPr lang="es-ES" dirty="0"/>
              <a:t>” → </a:t>
            </a:r>
            <a:r>
              <a:rPr lang="es-ES" dirty="0" err="1"/>
              <a:t>pre-signed</a:t>
            </a:r>
            <a:r>
              <a:rPr lang="es-ES" dirty="0"/>
              <a:t> </a:t>
            </a:r>
            <a:r>
              <a:rPr lang="es-ES" dirty="0" err="1"/>
              <a:t>URLs</a:t>
            </a:r>
            <a:r>
              <a:rPr lang="es-ES" dirty="0"/>
              <a:t> (</a:t>
            </a:r>
            <a:r>
              <a:rPr lang="es-ES" dirty="0" err="1"/>
              <a:t>Parquet</a:t>
            </a:r>
            <a:r>
              <a:rPr lang="es-ES" dirty="0"/>
              <a:t>)Pandas/</a:t>
            </a:r>
            <a:r>
              <a:rPr lang="es-ES" dirty="0" err="1"/>
              <a:t>PySparkDataFrame</a:t>
            </a:r>
            <a:r>
              <a:rPr lang="es-ES" dirty="0"/>
              <a:t> remoto (lee </a:t>
            </a:r>
            <a:r>
              <a:rPr lang="es-ES" dirty="0" err="1"/>
              <a:t>Parquet</a:t>
            </a:r>
            <a:r>
              <a:rPr lang="es-ES" dirty="0"/>
              <a:t> directamente)</a:t>
            </a:r>
            <a:r>
              <a:rPr lang="es-ES" dirty="0" err="1"/>
              <a:t>Snowflake</a:t>
            </a:r>
            <a:r>
              <a:rPr lang="es-ES" dirty="0"/>
              <a:t>/</a:t>
            </a:r>
            <a:r>
              <a:rPr lang="es-ES" dirty="0" err="1"/>
              <a:t>DuckDBExternal</a:t>
            </a:r>
            <a:r>
              <a:rPr lang="es-ES" dirty="0"/>
              <a:t> table con lectura REST + </a:t>
            </a:r>
            <a:r>
              <a:rPr lang="es-ES" dirty="0" err="1"/>
              <a:t>ParquetOtro</a:t>
            </a:r>
            <a:r>
              <a:rPr lang="es-ES" dirty="0"/>
              <a:t> </a:t>
            </a:r>
            <a:r>
              <a:rPr lang="es-ES" dirty="0" err="1"/>
              <a:t>DatabricksLectura</a:t>
            </a:r>
            <a:r>
              <a:rPr lang="es-ES" dirty="0"/>
              <a:t> directa, pero gestionada dentro del </a:t>
            </a:r>
            <a:r>
              <a:rPr lang="es-ES" dirty="0" err="1"/>
              <a:t>metastore</a:t>
            </a:r>
            <a:r>
              <a:rPr lang="es-ES" dirty="0"/>
              <a:t> remoto</a:t>
            </a:r>
          </a:p>
          <a:p>
            <a:r>
              <a:rPr lang="es-ES" dirty="0"/>
              <a:t>En resumen:</a:t>
            </a:r>
          </a:p>
          <a:p>
            <a:r>
              <a:rPr lang="es-ES" dirty="0"/>
              <a:t>🔸 Los datos </a:t>
            </a:r>
            <a:r>
              <a:rPr lang="es-ES" b="1" dirty="0"/>
              <a:t>no se mueven</a:t>
            </a:r>
            <a:br>
              <a:rPr lang="es-ES" dirty="0"/>
            </a:br>
            <a:r>
              <a:rPr lang="es-ES" dirty="0"/>
              <a:t>🔸 El </a:t>
            </a:r>
            <a:r>
              <a:rPr lang="es-ES" b="1" dirty="0"/>
              <a:t>control de acceso y versionado</a:t>
            </a:r>
            <a:r>
              <a:rPr lang="es-ES" dirty="0"/>
              <a:t> se mantiene en </a:t>
            </a:r>
            <a:r>
              <a:rPr lang="es-ES" dirty="0" err="1"/>
              <a:t>Databricks</a:t>
            </a:r>
            <a:br>
              <a:rPr lang="es-ES" dirty="0"/>
            </a:br>
            <a:r>
              <a:rPr lang="es-ES" dirty="0"/>
              <a:t>🔸 El </a:t>
            </a:r>
            <a:r>
              <a:rPr lang="es-ES" b="1" dirty="0"/>
              <a:t>receptor los consume en remoto</a:t>
            </a:r>
            <a:r>
              <a:rPr lang="es-ES" dirty="0"/>
              <a:t>, mediante </a:t>
            </a:r>
            <a:r>
              <a:rPr lang="es-ES" dirty="0" err="1"/>
              <a:t>URLs</a:t>
            </a:r>
            <a:r>
              <a:rPr lang="es-ES" dirty="0"/>
              <a:t> temporales firmadas</a:t>
            </a:r>
            <a:br>
              <a:rPr lang="es-ES" dirty="0"/>
            </a:br>
            <a:r>
              <a:rPr lang="es-ES" dirty="0"/>
              <a:t>🔸 Es una </a:t>
            </a:r>
            <a:r>
              <a:rPr lang="es-ES" b="1" dirty="0"/>
              <a:t>interoperabilidad real</a:t>
            </a:r>
            <a:r>
              <a:rPr lang="es-ES" dirty="0"/>
              <a:t> basada en un </a:t>
            </a:r>
            <a:r>
              <a:rPr lang="es-ES" b="1" dirty="0"/>
              <a:t>protocolo abierto (no propietario)</a:t>
            </a:r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45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Si eres un proveedor de datos es una forma de alcanzar mas clientes </a:t>
            </a:r>
          </a:p>
          <a:p>
            <a:r>
              <a:rPr lang="es-ES" sz="1200" dirty="0"/>
              <a:t>Si eres un consumidor, puedes obtener </a:t>
            </a:r>
            <a:r>
              <a:rPr lang="es-ES" sz="1200" dirty="0" err="1"/>
              <a:t>superfacilmente</a:t>
            </a:r>
            <a:r>
              <a:rPr lang="es-ES" sz="1200" dirty="0"/>
              <a:t> activos que otros han creado. Puedes innovar mucho mas rápido porque puedes consumir información que otros han consumido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00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Aquí la idea es introducir las </a:t>
            </a:r>
            <a:r>
              <a:rPr lang="es-ES" dirty="0" err="1"/>
              <a:t>system</a:t>
            </a:r>
            <a:r>
              <a:rPr lang="es-ES" dirty="0"/>
              <a:t> tables para luego pasar por potenciales </a:t>
            </a:r>
            <a:r>
              <a:rPr lang="es-ES" dirty="0" err="1"/>
              <a:t>queries</a:t>
            </a:r>
            <a:r>
              <a:rPr lang="es-ES" dirty="0"/>
              <a:t> interesantes que vamos a poder hacer gracias a ellas y </a:t>
            </a:r>
            <a:r>
              <a:rPr lang="es-ES" dirty="0" err="1"/>
              <a:t>paraluego</a:t>
            </a:r>
            <a:r>
              <a:rPr lang="es-ES" dirty="0"/>
              <a:t> introducir que haremos un ejercicio de </a:t>
            </a:r>
            <a:r>
              <a:rPr lang="es-ES" dirty="0" err="1"/>
              <a:t>dashboard</a:t>
            </a:r>
            <a:r>
              <a:rPr lang="es-ES" dirty="0"/>
              <a:t> de costes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523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13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42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79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97DD6-C3EF-4EDC-A764-DBBB13B3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4B237E-3366-49DC-A5B2-875AB14CB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13 Rectángulo">
            <a:extLst>
              <a:ext uri="{FF2B5EF4-FFF2-40B4-BE49-F238E27FC236}">
                <a16:creationId xmlns:a16="http://schemas.microsoft.com/office/drawing/2014/main" id="{D6C32259-CF4F-40D9-87EA-B3A647A1591D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B3E2DF03-2CE7-4A9C-A771-591251BBF9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19 Imagen" descr="CESTE blanco estrella roja sin coletilla.png">
            <a:extLst>
              <a:ext uri="{FF2B5EF4-FFF2-40B4-BE49-F238E27FC236}">
                <a16:creationId xmlns:a16="http://schemas.microsoft.com/office/drawing/2014/main" id="{AE4FCCDC-943C-4720-9545-D9B580615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77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EA877-320E-4E53-A0C7-FC3A97FF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2BCAAD-0433-4C53-959E-D88902C1D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96752"/>
            <a:ext cx="3867150" cy="4351338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5E6915-382E-4217-ACD9-6D0136062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196752"/>
            <a:ext cx="38671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13 Rectángulo">
            <a:extLst>
              <a:ext uri="{FF2B5EF4-FFF2-40B4-BE49-F238E27FC236}">
                <a16:creationId xmlns:a16="http://schemas.microsoft.com/office/drawing/2014/main" id="{C0036AAF-5A53-4151-90BE-48F07F7AB8C7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B0E4B335-D332-4E06-AE4D-5E17D86033F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19 Imagen" descr="CESTE blanco estrella roja sin coletilla.png">
            <a:extLst>
              <a:ext uri="{FF2B5EF4-FFF2-40B4-BE49-F238E27FC236}">
                <a16:creationId xmlns:a16="http://schemas.microsoft.com/office/drawing/2014/main" id="{13C02505-FECE-4A29-9F34-42CD3910D9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49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EEDE8-238D-431B-9E02-ECEA5C50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543595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4FC885-D21E-4C6F-92A4-7DF46EB72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152748"/>
            <a:ext cx="3868737" cy="69207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430F69-62A4-47BE-B8E1-BDB77F91F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976660"/>
            <a:ext cx="386873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36B7D7-2137-443B-B8F2-2827DBA756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152748"/>
            <a:ext cx="3887788" cy="69207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41CAA0-A338-4726-AD36-E9CAB2E329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976660"/>
            <a:ext cx="38877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" name="13 Rectángulo">
            <a:extLst>
              <a:ext uri="{FF2B5EF4-FFF2-40B4-BE49-F238E27FC236}">
                <a16:creationId xmlns:a16="http://schemas.microsoft.com/office/drawing/2014/main" id="{CADFFFF2-D07E-48B3-B746-4C1E4E0D3EE7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926C383A-DA23-4774-90AB-96458016A6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19 Imagen" descr="CESTE blanco estrella roja sin coletilla.png">
            <a:extLst>
              <a:ext uri="{FF2B5EF4-FFF2-40B4-BE49-F238E27FC236}">
                <a16:creationId xmlns:a16="http://schemas.microsoft.com/office/drawing/2014/main" id="{372DB351-4074-41B1-8D78-45083290FC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15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33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E6F0CB5-4C9C-47CC-9AC6-73C1D182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543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8939DD-6314-46C2-B153-796562A40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124744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57245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58" r:id="rId3"/>
    <p:sldLayoutId id="214748365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sv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25.sv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a mujer en frente de laptop&#10;&#10;Descripción generada automáticamente">
            <a:extLst>
              <a:ext uri="{FF2B5EF4-FFF2-40B4-BE49-F238E27FC236}">
                <a16:creationId xmlns:a16="http://schemas.microsoft.com/office/drawing/2014/main" id="{1B2DE7D5-11AB-4593-8E63-D175747460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3" r="9979"/>
          <a:stretch/>
        </p:blipFill>
        <p:spPr>
          <a:xfrm>
            <a:off x="0" y="-20033"/>
            <a:ext cx="9144000" cy="6905417"/>
          </a:xfrm>
          <a:prstGeom prst="rect">
            <a:avLst/>
          </a:prstGeom>
        </p:spPr>
      </p:pic>
      <p:sp>
        <p:nvSpPr>
          <p:cNvPr id="5" name="12 Rectángulo">
            <a:extLst>
              <a:ext uri="{FF2B5EF4-FFF2-40B4-BE49-F238E27FC236}">
                <a16:creationId xmlns:a16="http://schemas.microsoft.com/office/drawing/2014/main" id="{16DA3BB4-B192-47D7-B785-553D283516FF}"/>
              </a:ext>
            </a:extLst>
          </p:cNvPr>
          <p:cNvSpPr/>
          <p:nvPr/>
        </p:nvSpPr>
        <p:spPr>
          <a:xfrm>
            <a:off x="1282604" y="519466"/>
            <a:ext cx="3816424" cy="2549494"/>
          </a:xfrm>
          <a:prstGeom prst="rect">
            <a:avLst/>
          </a:prstGeom>
          <a:solidFill>
            <a:srgbClr val="003594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739E4FC8-D959-4548-BC2D-FFB66F30D630}"/>
              </a:ext>
            </a:extLst>
          </p:cNvPr>
          <p:cNvGrpSpPr/>
          <p:nvPr/>
        </p:nvGrpSpPr>
        <p:grpSpPr>
          <a:xfrm>
            <a:off x="1358758" y="1068907"/>
            <a:ext cx="4365370" cy="1915534"/>
            <a:chOff x="560503" y="937402"/>
            <a:chExt cx="4365370" cy="1915534"/>
          </a:xfrm>
        </p:grpSpPr>
        <p:sp>
          <p:nvSpPr>
            <p:cNvPr id="7" name="1 Título">
              <a:extLst>
                <a:ext uri="{FF2B5EF4-FFF2-40B4-BE49-F238E27FC236}">
                  <a16:creationId xmlns:a16="http://schemas.microsoft.com/office/drawing/2014/main" id="{69E1C32A-6BA1-4445-86AA-71F7AA08089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937402"/>
              <a:ext cx="4365370" cy="581961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l">
                <a:defRPr sz="3600" b="1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j-ea"/>
                  <a:cs typeface="Arial" pitchFamily="34" charset="0"/>
                </a:rPr>
                <a:t>CESTE</a:t>
              </a:r>
            </a:p>
          </p:txBody>
        </p:sp>
        <p:sp>
          <p:nvSpPr>
            <p:cNvPr id="8" name="2 Subtítulo">
              <a:extLst>
                <a:ext uri="{FF2B5EF4-FFF2-40B4-BE49-F238E27FC236}">
                  <a16:creationId xmlns:a16="http://schemas.microsoft.com/office/drawing/2014/main" id="{52C02F8F-E868-4CC8-9231-CE3B8698C2E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2383459"/>
              <a:ext cx="4365370" cy="469477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>
                <a:buNone/>
                <a:defRPr sz="2000" baseline="0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  <a:lvl2pPr marL="4572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2pPr>
              <a:lvl3pPr marL="9144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3pPr>
              <a:lvl4pPr marL="13716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4pPr>
              <a:lvl5pPr marL="18288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5pPr>
              <a:lvl6pPr marL="22860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6pPr>
              <a:lvl7pPr marL="27432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7pPr>
              <a:lvl8pPr marL="32004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8pPr>
              <a:lvl9pPr marL="36576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s-E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Arial" pitchFamily="34" charset="0"/>
                </a:rPr>
                <a:t>Zaragoza (España)</a:t>
              </a:r>
            </a:p>
          </p:txBody>
        </p:sp>
        <p:sp>
          <p:nvSpPr>
            <p:cNvPr id="9" name="1 Título">
              <a:extLst>
                <a:ext uri="{FF2B5EF4-FFF2-40B4-BE49-F238E27FC236}">
                  <a16:creationId xmlns:a16="http://schemas.microsoft.com/office/drawing/2014/main" id="{FFCCC8ED-BFDD-40C2-9384-6051B135D31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1087315"/>
              <a:ext cx="3501770" cy="163405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>
                <a:defRPr sz="2800" b="1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j-ea"/>
                  <a:cs typeface="Arial" pitchFamily="34" charset="0"/>
                </a:rPr>
                <a:t>Escuela Internacional de Negocios</a:t>
              </a:r>
            </a:p>
          </p:txBody>
        </p:sp>
      </p:grpSp>
      <p:sp>
        <p:nvSpPr>
          <p:cNvPr id="11" name="7 Rectángulo">
            <a:extLst>
              <a:ext uri="{FF2B5EF4-FFF2-40B4-BE49-F238E27FC236}">
                <a16:creationId xmlns:a16="http://schemas.microsoft.com/office/drawing/2014/main" id="{EA4F64AD-90F0-48AB-9FF8-1C33D6875C8F}"/>
              </a:ext>
            </a:extLst>
          </p:cNvPr>
          <p:cNvSpPr/>
          <p:nvPr/>
        </p:nvSpPr>
        <p:spPr>
          <a:xfrm>
            <a:off x="895446" y="6682676"/>
            <a:ext cx="8248554" cy="202708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29C61ABE-ECA3-4141-A971-81B9DEAA2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4130" y="6582971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7 Rectángulo">
            <a:extLst>
              <a:ext uri="{FF2B5EF4-FFF2-40B4-BE49-F238E27FC236}">
                <a16:creationId xmlns:a16="http://schemas.microsoft.com/office/drawing/2014/main" id="{AA627398-F4D7-4381-808D-80D5F1F3EB48}"/>
              </a:ext>
            </a:extLst>
          </p:cNvPr>
          <p:cNvSpPr/>
          <p:nvPr/>
        </p:nvSpPr>
        <p:spPr>
          <a:xfrm>
            <a:off x="0" y="-14102"/>
            <a:ext cx="8248554" cy="202708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4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0A8F8B0D-2FAA-485C-9D78-273EB1B0A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947238" y="-316515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EC902A68-A05E-4C30-9FDE-A0B9A7E87B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908" y="614880"/>
            <a:ext cx="1512664" cy="73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1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65239-C5AA-9936-2A64-C1AF98167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CA42802-BC79-E26E-F940-B9FC1BDD8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>
                <a:latin typeface="Montserrat" panose="00000500000000000000" pitchFamily="2" charset="0"/>
              </a:rPr>
              <a:t>Indice</a:t>
            </a:r>
            <a:r>
              <a:rPr lang="es-ES" dirty="0">
                <a:latin typeface="Montserrat" panose="00000500000000000000" pitchFamily="2" charset="0"/>
              </a:rPr>
              <a:t> de la Sesión 3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BFA5AF9-34E2-BA79-E638-5B33DCC1E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412776"/>
            <a:ext cx="7886700" cy="4680520"/>
          </a:xfrm>
        </p:spPr>
        <p:txBody>
          <a:bodyPr>
            <a:normAutofit/>
          </a:bodyPr>
          <a:lstStyle/>
          <a:p>
            <a:pPr marL="800100" lvl="1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Presentación PowerPoint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Data </a:t>
            </a:r>
            <a:r>
              <a:rPr lang="es-ES" sz="1400" dirty="0" err="1">
                <a:latin typeface="Montserrat" panose="00000500000000000000" pitchFamily="2" charset="0"/>
              </a:rPr>
              <a:t>Lineage</a:t>
            </a:r>
            <a:endParaRPr lang="es-ES" sz="1400" dirty="0">
              <a:latin typeface="Montserrat" panose="00000500000000000000" pitchFamily="2" charset="0"/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Data </a:t>
            </a:r>
            <a:r>
              <a:rPr lang="es-ES" sz="1400" dirty="0" err="1">
                <a:latin typeface="Montserrat" panose="00000500000000000000" pitchFamily="2" charset="0"/>
              </a:rPr>
              <a:t>Sharing</a:t>
            </a:r>
            <a:r>
              <a:rPr lang="es-ES" sz="1400" dirty="0">
                <a:latin typeface="Montserrat" panose="00000500000000000000" pitchFamily="2" charset="0"/>
              </a:rPr>
              <a:t> and </a:t>
            </a:r>
            <a:r>
              <a:rPr lang="es-ES" sz="1400" dirty="0" err="1">
                <a:latin typeface="Montserrat" panose="00000500000000000000" pitchFamily="2" charset="0"/>
              </a:rPr>
              <a:t>Collaboration</a:t>
            </a:r>
            <a:endParaRPr lang="es-ES" sz="1400" dirty="0">
              <a:latin typeface="Montserrat" panose="00000500000000000000" pitchFamily="2" charset="0"/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Data </a:t>
            </a:r>
            <a:r>
              <a:rPr lang="es-ES" sz="1400" dirty="0" err="1">
                <a:latin typeface="Montserrat" panose="00000500000000000000" pitchFamily="2" charset="0"/>
              </a:rPr>
              <a:t>Auditing</a:t>
            </a:r>
            <a:r>
              <a:rPr lang="es-ES" sz="1400" dirty="0">
                <a:latin typeface="Montserrat" panose="00000500000000000000" pitchFamily="2" charset="0"/>
              </a:rPr>
              <a:t>: Tablas de sistema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Data </a:t>
            </a:r>
            <a:r>
              <a:rPr lang="es-ES" sz="1400" dirty="0" err="1">
                <a:latin typeface="Montserrat" panose="00000500000000000000" pitchFamily="2" charset="0"/>
              </a:rPr>
              <a:t>Quality</a:t>
            </a:r>
            <a:r>
              <a:rPr lang="es-ES" sz="1400" dirty="0">
                <a:latin typeface="Montserrat" panose="00000500000000000000" pitchFamily="2" charset="0"/>
              </a:rPr>
              <a:t> &amp; </a:t>
            </a:r>
            <a:r>
              <a:rPr lang="es-ES" sz="1400" dirty="0" err="1">
                <a:latin typeface="Montserrat" panose="00000500000000000000" pitchFamily="2" charset="0"/>
              </a:rPr>
              <a:t>Monitoring</a:t>
            </a:r>
            <a:endParaRPr lang="es-ES" sz="1400" dirty="0">
              <a:latin typeface="Montserrat" panose="00000500000000000000" pitchFamily="2" charset="0"/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Uso de Genie</a:t>
            </a:r>
            <a:br>
              <a:rPr lang="es-ES" sz="1400" dirty="0">
                <a:latin typeface="Montserrat" panose="00000500000000000000" pitchFamily="2" charset="0"/>
              </a:rPr>
            </a:br>
            <a:endParaRPr lang="es-ES" sz="1400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Notebook en </a:t>
            </a:r>
            <a:r>
              <a:rPr lang="es-ES" sz="1400" dirty="0" err="1">
                <a:latin typeface="Montserrat" panose="00000500000000000000" pitchFamily="2" charset="0"/>
              </a:rPr>
              <a:t>Databricks</a:t>
            </a:r>
            <a:r>
              <a:rPr lang="es-ES" sz="1400" dirty="0">
                <a:latin typeface="Montserrat" panose="00000500000000000000" pitchFamily="2" charset="0"/>
              </a:rPr>
              <a:t>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 err="1">
                <a:latin typeface="Montserrat" panose="00000500000000000000" pitchFamily="2" charset="0"/>
              </a:rPr>
              <a:t>Dashboard</a:t>
            </a:r>
            <a:r>
              <a:rPr lang="es-ES" sz="1400" dirty="0">
                <a:latin typeface="Montserrat" panose="00000500000000000000" pitchFamily="2" charset="0"/>
              </a:rPr>
              <a:t> de Costes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Demo de Data </a:t>
            </a:r>
            <a:r>
              <a:rPr lang="es-ES" sz="1400" dirty="0" err="1">
                <a:latin typeface="Montserrat" panose="00000500000000000000" pitchFamily="2" charset="0"/>
              </a:rPr>
              <a:t>Quality</a:t>
            </a:r>
            <a:endParaRPr lang="es-ES" sz="1400" dirty="0">
              <a:latin typeface="Montserrat" panose="00000500000000000000" pitchFamily="2" charset="0"/>
            </a:endParaRPr>
          </a:p>
          <a:p>
            <a:pPr marL="1257300" lvl="2" indent="-342900">
              <a:buFont typeface="+mj-lt"/>
              <a:buAutoNum type="arabicPeriod"/>
            </a:pPr>
            <a:endParaRPr lang="es-ES" sz="1400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302527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30D9C47-C0B8-5576-6621-2E91145DC431}"/>
              </a:ext>
            </a:extLst>
          </p:cNvPr>
          <p:cNvSpPr txBox="1"/>
          <p:nvPr/>
        </p:nvSpPr>
        <p:spPr>
          <a:xfrm>
            <a:off x="2483768" y="2537901"/>
            <a:ext cx="4176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UNITY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CATALOG</a:t>
            </a:r>
          </a:p>
        </p:txBody>
      </p:sp>
    </p:spTree>
    <p:extLst>
      <p:ext uri="{BB962C8B-B14F-4D97-AF65-F5344CB8AC3E}">
        <p14:creationId xmlns:p14="http://schemas.microsoft.com/office/powerpoint/2010/main" val="4121299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o 34">
            <a:extLst>
              <a:ext uri="{FF2B5EF4-FFF2-40B4-BE49-F238E27FC236}">
                <a16:creationId xmlns:a16="http://schemas.microsoft.com/office/drawing/2014/main" id="{5B2ADFA1-8002-916A-E0B7-C661C550A918}"/>
              </a:ext>
            </a:extLst>
          </p:cNvPr>
          <p:cNvGrpSpPr/>
          <p:nvPr/>
        </p:nvGrpSpPr>
        <p:grpSpPr>
          <a:xfrm>
            <a:off x="395536" y="2780928"/>
            <a:ext cx="8424936" cy="2016224"/>
            <a:chOff x="395536" y="3284984"/>
            <a:chExt cx="8424936" cy="2016224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8761BE6-8E35-5239-2071-B043EE5BF8A7}"/>
                </a:ext>
              </a:extLst>
            </p:cNvPr>
            <p:cNvSpPr/>
            <p:nvPr/>
          </p:nvSpPr>
          <p:spPr>
            <a:xfrm>
              <a:off x="395536" y="3284984"/>
              <a:ext cx="8424936" cy="2016224"/>
            </a:xfrm>
            <a:prstGeom prst="rect">
              <a:avLst/>
            </a:prstGeom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C229099-D1C4-FC32-20A2-67C7BD198F83}"/>
                </a:ext>
              </a:extLst>
            </p:cNvPr>
            <p:cNvSpPr/>
            <p:nvPr/>
          </p:nvSpPr>
          <p:spPr>
            <a:xfrm>
              <a:off x="626448" y="4293096"/>
              <a:ext cx="7949545" cy="79208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Metadata</a:t>
              </a:r>
              <a:r>
                <a:rPr lang="es-ES" sz="1600" dirty="0"/>
                <a:t> Management</a:t>
              </a:r>
            </a:p>
            <a:p>
              <a:pPr algn="ctr"/>
              <a:r>
                <a:rPr lang="es-ES" sz="1600" dirty="0"/>
                <a:t>(Files | Tables | ML </a:t>
              </a:r>
              <a:r>
                <a:rPr lang="es-ES" sz="1600" dirty="0" err="1"/>
                <a:t>Models</a:t>
              </a:r>
              <a:r>
                <a:rPr lang="es-ES" sz="1600" dirty="0"/>
                <a:t> | Notebooks | </a:t>
              </a:r>
              <a:r>
                <a:rPr lang="es-ES" sz="1600" dirty="0" err="1"/>
                <a:t>Dashboards</a:t>
              </a:r>
              <a:r>
                <a:rPr lang="es-ES" sz="1600" dirty="0"/>
                <a:t>)</a:t>
              </a: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07768FA-AE5B-B194-5781-DF1A44A5AB28}"/>
                </a:ext>
              </a:extLst>
            </p:cNvPr>
            <p:cNvSpPr/>
            <p:nvPr/>
          </p:nvSpPr>
          <p:spPr>
            <a:xfrm>
              <a:off x="63426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/>
                <a:t>Access</a:t>
              </a:r>
            </a:p>
            <a:p>
              <a:pPr algn="ctr"/>
              <a:r>
                <a:rPr lang="es-ES" sz="1600" dirty="0" err="1"/>
                <a:t>Controls</a:t>
              </a:r>
              <a:endParaRPr lang="es-ES" sz="1600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6A2BC39B-DDDC-EB9F-3FEC-7BD701DDE43E}"/>
                </a:ext>
              </a:extLst>
            </p:cNvPr>
            <p:cNvSpPr/>
            <p:nvPr/>
          </p:nvSpPr>
          <p:spPr>
            <a:xfrm>
              <a:off x="1979712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/>
                <a:t>Discovery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4D755E14-37E9-200A-13D2-3891DA797952}"/>
                </a:ext>
              </a:extLst>
            </p:cNvPr>
            <p:cNvSpPr/>
            <p:nvPr/>
          </p:nvSpPr>
          <p:spPr>
            <a:xfrm>
              <a:off x="332897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Lineage</a:t>
              </a:r>
              <a:endParaRPr lang="es-ES" sz="1600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CCC73782-79DD-0543-F048-724F281BA7C8}"/>
                </a:ext>
              </a:extLst>
            </p:cNvPr>
            <p:cNvSpPr/>
            <p:nvPr/>
          </p:nvSpPr>
          <p:spPr>
            <a:xfrm>
              <a:off x="4678242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Sharing</a:t>
              </a:r>
              <a:endParaRPr lang="es-ES" sz="1600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20A01DED-CECF-E81B-A6D1-02F167A1D7C2}"/>
                </a:ext>
              </a:extLst>
            </p:cNvPr>
            <p:cNvSpPr/>
            <p:nvPr/>
          </p:nvSpPr>
          <p:spPr>
            <a:xfrm>
              <a:off x="602750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Auditing</a:t>
              </a:r>
              <a:endParaRPr lang="es-ES" sz="1600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296940DA-EB7D-029B-23EE-875C06A57881}"/>
                </a:ext>
              </a:extLst>
            </p:cNvPr>
            <p:cNvSpPr/>
            <p:nvPr/>
          </p:nvSpPr>
          <p:spPr>
            <a:xfrm>
              <a:off x="7374564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Monitoring</a:t>
              </a:r>
              <a:endParaRPr lang="es-ES" sz="1600" dirty="0"/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66744B4-8C1E-F4CD-567E-1043F9800969}"/>
              </a:ext>
            </a:extLst>
          </p:cNvPr>
          <p:cNvSpPr txBox="1"/>
          <p:nvPr/>
        </p:nvSpPr>
        <p:spPr>
          <a:xfrm>
            <a:off x="1115616" y="1859657"/>
            <a:ext cx="7200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latin typeface="Montserrat" panose="00000500000000000000" pitchFamily="2" charset="0"/>
              </a:rPr>
              <a:t>Unity </a:t>
            </a:r>
            <a:r>
              <a:rPr lang="es-ES" sz="1000" b="1" dirty="0" err="1">
                <a:latin typeface="Montserrat" panose="00000500000000000000" pitchFamily="2" charset="0"/>
              </a:rPr>
              <a:t>Catalog</a:t>
            </a:r>
            <a:r>
              <a:rPr lang="es-ES" sz="1000" dirty="0">
                <a:latin typeface="Montserrat" panose="00000500000000000000" pitchFamily="2" charset="0"/>
              </a:rPr>
              <a:t> es la solución de </a:t>
            </a:r>
            <a:r>
              <a:rPr lang="es-ES" sz="1000" b="1" dirty="0">
                <a:latin typeface="Montserrat" panose="00000500000000000000" pitchFamily="2" charset="0"/>
              </a:rPr>
              <a:t>gobernanza unificada de datos e inteligencia artificial</a:t>
            </a:r>
            <a:r>
              <a:rPr lang="es-ES" sz="1000" dirty="0">
                <a:latin typeface="Montserrat" panose="00000500000000000000" pitchFamily="2" charset="0"/>
              </a:rPr>
              <a:t> en </a:t>
            </a:r>
            <a:r>
              <a:rPr lang="es-ES" sz="1000" dirty="0" err="1">
                <a:latin typeface="Montserrat" panose="00000500000000000000" pitchFamily="2" charset="0"/>
              </a:rPr>
              <a:t>Databricks</a:t>
            </a:r>
            <a:r>
              <a:rPr lang="es-ES" sz="1000" dirty="0"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38" name="Google Shape;303;g35ee5cc475b_0_63">
            <a:extLst>
              <a:ext uri="{FF2B5EF4-FFF2-40B4-BE49-F238E27FC236}">
                <a16:creationId xmlns:a16="http://schemas.microsoft.com/office/drawing/2014/main" id="{B55AE80E-A0D7-63A0-9384-04C2ACABF9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528" y="365125"/>
            <a:ext cx="8496944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0. Introducción a UC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Continuamos con…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100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DD18DE86-0851-17AD-9C20-79EB67B16C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1. Data </a:t>
            </a:r>
            <a:r>
              <a:rPr lang="es-ES" dirty="0" err="1">
                <a:latin typeface="Montserrat" panose="00000500000000000000" pitchFamily="2" charset="0"/>
              </a:rPr>
              <a:t>Lineage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¿Porque es data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lineage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importante?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9234AD5-B5CC-95B8-F307-FCDB4CA037AD}"/>
              </a:ext>
            </a:extLst>
          </p:cNvPr>
          <p:cNvSpPr/>
          <p:nvPr/>
        </p:nvSpPr>
        <p:spPr>
          <a:xfrm>
            <a:off x="539552" y="1628800"/>
            <a:ext cx="2376264" cy="30963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>
                <a:solidFill>
                  <a:schemeClr val="tx1"/>
                </a:solidFill>
                <a:latin typeface="Montserrat" panose="00000500000000000000" pitchFamily="2" charset="0"/>
              </a:rPr>
              <a:t>       </a:t>
            </a:r>
            <a:r>
              <a:rPr lang="es-ES" sz="1200" b="1" dirty="0" err="1">
                <a:solidFill>
                  <a:schemeClr val="tx1"/>
                </a:solidFill>
                <a:latin typeface="Montserrat" panose="00000500000000000000" pitchFamily="2" charset="0"/>
              </a:rPr>
              <a:t>Compliance</a:t>
            </a:r>
            <a:endParaRPr lang="es-ES" sz="1100" b="1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Requisitos 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regulatorios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 para verificar el linaje de datos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Traquear la posible propagación de datos sensibles a través de </a:t>
            </a:r>
            <a:r>
              <a:rPr lang="es-ES" sz="1000" dirty="0" err="1">
                <a:solidFill>
                  <a:schemeClr val="tx1"/>
                </a:solidFill>
                <a:latin typeface="Montserrat" panose="00000500000000000000" pitchFamily="2" charset="0"/>
              </a:rPr>
              <a:t>datsets</a:t>
            </a:r>
            <a:endParaRPr lang="es-E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5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C8685BD-94D2-3027-F604-7D392552202A}"/>
              </a:ext>
            </a:extLst>
          </p:cNvPr>
          <p:cNvSpPr/>
          <p:nvPr/>
        </p:nvSpPr>
        <p:spPr>
          <a:xfrm>
            <a:off x="3339319" y="1622336"/>
            <a:ext cx="2376264" cy="30963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>
                <a:solidFill>
                  <a:schemeClr val="tx1"/>
                </a:solidFill>
                <a:latin typeface="Montserrat" panose="00000500000000000000" pitchFamily="2" charset="0"/>
              </a:rPr>
              <a:t>       </a:t>
            </a:r>
            <a:r>
              <a:rPr lang="es-ES" sz="1200" b="1" dirty="0">
                <a:solidFill>
                  <a:schemeClr val="tx1"/>
                </a:solidFill>
                <a:latin typeface="Montserrat" panose="00000500000000000000" pitchFamily="2" charset="0"/>
              </a:rPr>
              <a:t>Discovery</a:t>
            </a:r>
            <a:endParaRPr lang="es-ES" sz="1100" b="1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Entender el 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contexto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 y la veracidad de los datos antes de usarlos en análisis.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Prevenir duplicar 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trabajo y datos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C87CE47-DFB1-667B-BC5B-2DDB444295FD}"/>
              </a:ext>
            </a:extLst>
          </p:cNvPr>
          <p:cNvSpPr/>
          <p:nvPr/>
        </p:nvSpPr>
        <p:spPr>
          <a:xfrm>
            <a:off x="6139086" y="1628800"/>
            <a:ext cx="2376264" cy="30963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>
                <a:solidFill>
                  <a:schemeClr val="tx1"/>
                </a:solidFill>
                <a:latin typeface="Montserrat" panose="00000500000000000000" pitchFamily="2" charset="0"/>
              </a:rPr>
              <a:t>        </a:t>
            </a:r>
            <a:r>
              <a:rPr lang="es-ES" sz="1200" b="1" dirty="0" err="1">
                <a:solidFill>
                  <a:schemeClr val="tx1"/>
                </a:solidFill>
                <a:latin typeface="Montserrat" panose="00000500000000000000" pitchFamily="2" charset="0"/>
              </a:rPr>
              <a:t>Observability</a:t>
            </a:r>
            <a:endParaRPr lang="es-ES" sz="1100" b="1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Detecta problemas 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o discrepancias en los informes rastreando los datos.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Analizar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el 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impacto de cambios propuestos 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a reportes aguas abajo</a:t>
            </a: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E76377B4-C61F-5105-1E44-743E811D77B2}"/>
              </a:ext>
            </a:extLst>
          </p:cNvPr>
          <p:cNvGrpSpPr/>
          <p:nvPr/>
        </p:nvGrpSpPr>
        <p:grpSpPr>
          <a:xfrm>
            <a:off x="3079852" y="1556792"/>
            <a:ext cx="72752" cy="3264175"/>
            <a:chOff x="3079852" y="1556792"/>
            <a:chExt cx="72752" cy="3264175"/>
          </a:xfrm>
        </p:grpSpPr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0CFACC08-9400-941B-D45E-49CFD4800ED3}"/>
                </a:ext>
              </a:extLst>
            </p:cNvPr>
            <p:cNvCxnSpPr>
              <a:cxnSpLocks/>
              <a:endCxn id="26" idx="4"/>
            </p:cNvCxnSpPr>
            <p:nvPr/>
          </p:nvCxnSpPr>
          <p:spPr>
            <a:xfrm flipH="1">
              <a:off x="3115856" y="1556792"/>
              <a:ext cx="744" cy="326417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A1EBB183-EA51-F5E1-3195-C4C7D2C6E70B}"/>
                </a:ext>
              </a:extLst>
            </p:cNvPr>
            <p:cNvGrpSpPr/>
            <p:nvPr/>
          </p:nvGrpSpPr>
          <p:grpSpPr>
            <a:xfrm>
              <a:off x="3079852" y="1560412"/>
              <a:ext cx="72752" cy="3260555"/>
              <a:chOff x="3079852" y="1560412"/>
              <a:chExt cx="72752" cy="3260555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E986975-EA17-D99C-D839-6B5AB68B33C3}"/>
                  </a:ext>
                </a:extLst>
              </p:cNvPr>
              <p:cNvSpPr/>
              <p:nvPr/>
            </p:nvSpPr>
            <p:spPr>
              <a:xfrm>
                <a:off x="3080596" y="1560412"/>
                <a:ext cx="72008" cy="7200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507054CB-5C0A-2F6C-840A-E8D9E0BDF7B4}"/>
                  </a:ext>
                </a:extLst>
              </p:cNvPr>
              <p:cNvSpPr/>
              <p:nvPr/>
            </p:nvSpPr>
            <p:spPr>
              <a:xfrm>
                <a:off x="3079852" y="4748959"/>
                <a:ext cx="72008" cy="7200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C7E24212-0843-5145-91BC-1E1C932FCB25}"/>
              </a:ext>
            </a:extLst>
          </p:cNvPr>
          <p:cNvGrpSpPr/>
          <p:nvPr/>
        </p:nvGrpSpPr>
        <p:grpSpPr>
          <a:xfrm>
            <a:off x="5901926" y="1544884"/>
            <a:ext cx="72752" cy="3264175"/>
            <a:chOff x="3079852" y="1556792"/>
            <a:chExt cx="72752" cy="3264175"/>
          </a:xfrm>
        </p:grpSpPr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C51EC6C7-809D-C728-6ED4-53720A5993A8}"/>
                </a:ext>
              </a:extLst>
            </p:cNvPr>
            <p:cNvCxnSpPr>
              <a:cxnSpLocks/>
              <a:endCxn id="43" idx="4"/>
            </p:cNvCxnSpPr>
            <p:nvPr/>
          </p:nvCxnSpPr>
          <p:spPr>
            <a:xfrm flipH="1">
              <a:off x="3115856" y="1556792"/>
              <a:ext cx="744" cy="326417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upo 40">
              <a:extLst>
                <a:ext uri="{FF2B5EF4-FFF2-40B4-BE49-F238E27FC236}">
                  <a16:creationId xmlns:a16="http://schemas.microsoft.com/office/drawing/2014/main" id="{A0580E21-D79F-99C5-D9F5-63D6218D04F0}"/>
                </a:ext>
              </a:extLst>
            </p:cNvPr>
            <p:cNvGrpSpPr/>
            <p:nvPr/>
          </p:nvGrpSpPr>
          <p:grpSpPr>
            <a:xfrm>
              <a:off x="3079852" y="1560412"/>
              <a:ext cx="72752" cy="3260555"/>
              <a:chOff x="3079852" y="1560412"/>
              <a:chExt cx="72752" cy="3260555"/>
            </a:xfrm>
          </p:grpSpPr>
          <p:sp>
            <p:nvSpPr>
              <p:cNvPr id="42" name="Elipse 41">
                <a:extLst>
                  <a:ext uri="{FF2B5EF4-FFF2-40B4-BE49-F238E27FC236}">
                    <a16:creationId xmlns:a16="http://schemas.microsoft.com/office/drawing/2014/main" id="{EAA1AF96-8FA6-7C7E-5A32-9FE3497C7B12}"/>
                  </a:ext>
                </a:extLst>
              </p:cNvPr>
              <p:cNvSpPr/>
              <p:nvPr/>
            </p:nvSpPr>
            <p:spPr>
              <a:xfrm>
                <a:off x="3080596" y="1560412"/>
                <a:ext cx="72008" cy="7200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3" name="Elipse 42">
                <a:extLst>
                  <a:ext uri="{FF2B5EF4-FFF2-40B4-BE49-F238E27FC236}">
                    <a16:creationId xmlns:a16="http://schemas.microsoft.com/office/drawing/2014/main" id="{8490B402-ACBA-9F71-B7B2-EA1384E766B7}"/>
                  </a:ext>
                </a:extLst>
              </p:cNvPr>
              <p:cNvSpPr/>
              <p:nvPr/>
            </p:nvSpPr>
            <p:spPr>
              <a:xfrm>
                <a:off x="3079852" y="4748959"/>
                <a:ext cx="72008" cy="7200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pic>
        <p:nvPicPr>
          <p:cNvPr id="45" name="Imagen 44" descr="Forma&#10;&#10;El contenido generado por IA puede ser incorrecto.">
            <a:extLst>
              <a:ext uri="{FF2B5EF4-FFF2-40B4-BE49-F238E27FC236}">
                <a16:creationId xmlns:a16="http://schemas.microsoft.com/office/drawing/2014/main" id="{B71F0A05-BBCF-6312-019C-65C34D22FA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36" y="1980677"/>
            <a:ext cx="296195" cy="296195"/>
          </a:xfrm>
          <a:prstGeom prst="rect">
            <a:avLst/>
          </a:prstGeom>
        </p:spPr>
      </p:pic>
      <p:pic>
        <p:nvPicPr>
          <p:cNvPr id="47" name="Imagen 46" descr="Forma&#10;&#10;El contenido generado por IA puede ser incorrecto.">
            <a:extLst>
              <a:ext uri="{FF2B5EF4-FFF2-40B4-BE49-F238E27FC236}">
                <a16:creationId xmlns:a16="http://schemas.microsoft.com/office/drawing/2014/main" id="{7CF28DDE-FB8A-9407-3C04-8240FDAA16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396" y="1980676"/>
            <a:ext cx="296195" cy="296195"/>
          </a:xfrm>
          <a:prstGeom prst="rect">
            <a:avLst/>
          </a:prstGeom>
        </p:spPr>
      </p:pic>
      <p:pic>
        <p:nvPicPr>
          <p:cNvPr id="49" name="Imagen 48" descr="Forma&#10;&#10;El contenido generado por IA puede ser incorrecto.">
            <a:extLst>
              <a:ext uri="{FF2B5EF4-FFF2-40B4-BE49-F238E27FC236}">
                <a16:creationId xmlns:a16="http://schemas.microsoft.com/office/drawing/2014/main" id="{BA5632DD-9084-4007-61D4-19D8C8ADC8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066" y="1980677"/>
            <a:ext cx="296195" cy="29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823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A24F4-CB84-7742-BE5F-DDA6F7DD3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4E2B5D-2799-6D4E-B445-D16756D24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91730" y="1238819"/>
            <a:ext cx="6887611" cy="317974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000" dirty="0">
                <a:latin typeface="Montserrat" panose="00000500000000000000" pitchFamily="2" charset="0"/>
              </a:rPr>
              <a:t>¿Como UC me permite compartir datos dentro y fuera de la empresa de manera simple, rápida y segura?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3B40870-EC57-69E0-E450-89B2D72D2BD8}"/>
              </a:ext>
            </a:extLst>
          </p:cNvPr>
          <p:cNvGrpSpPr/>
          <p:nvPr/>
        </p:nvGrpSpPr>
        <p:grpSpPr>
          <a:xfrm>
            <a:off x="979667" y="2276872"/>
            <a:ext cx="1578768" cy="1422814"/>
            <a:chOff x="3706417" y="3214370"/>
            <a:chExt cx="1578768" cy="1422814"/>
          </a:xfrm>
          <a:solidFill>
            <a:srgbClr val="F2F2F2"/>
          </a:solidFill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B280C548-81D6-91F3-EEFC-AA71C214AC3C}"/>
                </a:ext>
              </a:extLst>
            </p:cNvPr>
            <p:cNvSpPr/>
            <p:nvPr/>
          </p:nvSpPr>
          <p:spPr>
            <a:xfrm>
              <a:off x="3706417" y="3214370"/>
              <a:ext cx="1578768" cy="1422814"/>
            </a:xfrm>
            <a:prstGeom prst="ellips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0" name="Imagen 9" descr="Icono&#10;&#10;El contenido generado por IA puede ser incorrecto.">
              <a:extLst>
                <a:ext uri="{FF2B5EF4-FFF2-40B4-BE49-F238E27FC236}">
                  <a16:creationId xmlns:a16="http://schemas.microsoft.com/office/drawing/2014/main" id="{965590B6-9B4F-2F9E-F1D4-0728BCB55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2777" y="3550535"/>
              <a:ext cx="886048" cy="750483"/>
            </a:xfrm>
            <a:prstGeom prst="rect">
              <a:avLst/>
            </a:prstGeom>
            <a:grpFill/>
          </p:spPr>
        </p:pic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464615A5-3843-D529-C80C-C09888E166F1}"/>
              </a:ext>
            </a:extLst>
          </p:cNvPr>
          <p:cNvGrpSpPr/>
          <p:nvPr/>
        </p:nvGrpSpPr>
        <p:grpSpPr>
          <a:xfrm>
            <a:off x="3782616" y="2276872"/>
            <a:ext cx="1578768" cy="1422814"/>
            <a:chOff x="2057128" y="3237240"/>
            <a:chExt cx="1578768" cy="1422814"/>
          </a:xfrm>
          <a:solidFill>
            <a:srgbClr val="F2F2F2"/>
          </a:solidFill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2825B59F-CC9D-352A-9A57-9043EB741E40}"/>
                </a:ext>
              </a:extLst>
            </p:cNvPr>
            <p:cNvSpPr/>
            <p:nvPr/>
          </p:nvSpPr>
          <p:spPr>
            <a:xfrm>
              <a:off x="2057128" y="3237240"/>
              <a:ext cx="1578768" cy="1422814"/>
            </a:xfrm>
            <a:prstGeom prst="ellips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5" name="Imagen 14" descr="Icono&#10;&#10;El contenido generado por IA puede ser incorrecto.">
              <a:extLst>
                <a:ext uri="{FF2B5EF4-FFF2-40B4-BE49-F238E27FC236}">
                  <a16:creationId xmlns:a16="http://schemas.microsoft.com/office/drawing/2014/main" id="{29B3F9E4-87E2-F529-C6FE-6C0F5AB11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4441" y="3518428"/>
              <a:ext cx="860438" cy="860438"/>
            </a:xfrm>
            <a:prstGeom prst="rect">
              <a:avLst/>
            </a:prstGeom>
            <a:grpFill/>
          </p:spPr>
        </p:pic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5305C258-A9DD-6DD4-0B8C-40D1452A3521}"/>
              </a:ext>
            </a:extLst>
          </p:cNvPr>
          <p:cNvGrpSpPr/>
          <p:nvPr/>
        </p:nvGrpSpPr>
        <p:grpSpPr>
          <a:xfrm>
            <a:off x="6587425" y="2276871"/>
            <a:ext cx="1578768" cy="1422814"/>
            <a:chOff x="2057128" y="3237240"/>
            <a:chExt cx="1578768" cy="1422814"/>
          </a:xfrm>
          <a:solidFill>
            <a:srgbClr val="F2F2F2"/>
          </a:solidFill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128F639D-E26D-A822-D5F3-529FEB179836}"/>
                </a:ext>
              </a:extLst>
            </p:cNvPr>
            <p:cNvSpPr/>
            <p:nvPr/>
          </p:nvSpPr>
          <p:spPr>
            <a:xfrm>
              <a:off x="2057128" y="3237240"/>
              <a:ext cx="1578768" cy="1422814"/>
            </a:xfrm>
            <a:prstGeom prst="ellips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1" name="Imagen 20" descr="Icono&#10;&#10;El contenido generado por IA puede ser incorrecto.">
              <a:extLst>
                <a:ext uri="{FF2B5EF4-FFF2-40B4-BE49-F238E27FC236}">
                  <a16:creationId xmlns:a16="http://schemas.microsoft.com/office/drawing/2014/main" id="{8E79EB3E-52CE-4536-1763-7976DF681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4441" y="3518428"/>
              <a:ext cx="860438" cy="860438"/>
            </a:xfrm>
            <a:prstGeom prst="rect">
              <a:avLst/>
            </a:prstGeom>
            <a:grpFill/>
          </p:spPr>
        </p:pic>
      </p:grpSp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24C6CB1C-9F12-710F-0CD3-1188BAD8BD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2. Data </a:t>
            </a:r>
            <a:r>
              <a:rPr lang="es-ES" dirty="0" err="1">
                <a:latin typeface="Montserrat" panose="00000500000000000000" pitchFamily="2" charset="0"/>
              </a:rPr>
              <a:t>Sharing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Opciones disponibles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E570034-1FC1-8A1A-A0A6-65C6239AE527}"/>
              </a:ext>
            </a:extLst>
          </p:cNvPr>
          <p:cNvSpPr txBox="1"/>
          <p:nvPr/>
        </p:nvSpPr>
        <p:spPr>
          <a:xfrm>
            <a:off x="1300999" y="3861048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latin typeface="Montserrat" panose="00000500000000000000" pitchFamily="2" charset="0"/>
              </a:rPr>
              <a:t>Delta </a:t>
            </a:r>
            <a:r>
              <a:rPr lang="es-ES" sz="1200" b="1" dirty="0" err="1">
                <a:latin typeface="Montserrat" panose="00000500000000000000" pitchFamily="2" charset="0"/>
              </a:rPr>
              <a:t>Sharing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8D49025-13CD-6F90-AE0A-79340321770A}"/>
              </a:ext>
            </a:extLst>
          </p:cNvPr>
          <p:cNvSpPr txBox="1"/>
          <p:nvPr/>
        </p:nvSpPr>
        <p:spPr>
          <a:xfrm>
            <a:off x="3951430" y="3861048"/>
            <a:ext cx="1257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 err="1">
                <a:latin typeface="Montserrat" panose="00000500000000000000" pitchFamily="2" charset="0"/>
              </a:rPr>
              <a:t>Databricks</a:t>
            </a:r>
            <a:r>
              <a:rPr lang="es-ES" sz="1200" b="1" dirty="0">
                <a:latin typeface="Montserrat" panose="00000500000000000000" pitchFamily="2" charset="0"/>
              </a:rPr>
              <a:t> Marketplace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ECE6A06-32F6-60B5-6DFB-9918D0F2E8BC}"/>
              </a:ext>
            </a:extLst>
          </p:cNvPr>
          <p:cNvSpPr txBox="1"/>
          <p:nvPr/>
        </p:nvSpPr>
        <p:spPr>
          <a:xfrm>
            <a:off x="6748091" y="3861048"/>
            <a:ext cx="1257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 err="1">
                <a:latin typeface="Montserrat" panose="00000500000000000000" pitchFamily="2" charset="0"/>
              </a:rPr>
              <a:t>Databricks</a:t>
            </a:r>
            <a:endParaRPr lang="es-ES" sz="1200" b="1" dirty="0">
              <a:latin typeface="Montserrat" panose="00000500000000000000" pitchFamily="2" charset="0"/>
            </a:endParaRPr>
          </a:p>
          <a:p>
            <a:pPr algn="ctr"/>
            <a:r>
              <a:rPr lang="es-ES" sz="1200" b="1" dirty="0" err="1">
                <a:latin typeface="Montserrat" panose="00000500000000000000" pitchFamily="2" charset="0"/>
              </a:rPr>
              <a:t>Clean</a:t>
            </a:r>
            <a:r>
              <a:rPr lang="es-ES" sz="1200" b="1" dirty="0">
                <a:latin typeface="Montserrat" panose="00000500000000000000" pitchFamily="2" charset="0"/>
              </a:rPr>
              <a:t> </a:t>
            </a:r>
            <a:r>
              <a:rPr lang="es-ES" sz="1200" b="1" dirty="0" err="1">
                <a:latin typeface="Montserrat" panose="00000500000000000000" pitchFamily="2" charset="0"/>
              </a:rPr>
              <a:t>Room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6D0237BF-7DF7-971D-44A9-EF4CCA4CCEC6}"/>
              </a:ext>
            </a:extLst>
          </p:cNvPr>
          <p:cNvSpPr txBox="1"/>
          <p:nvPr/>
        </p:nvSpPr>
        <p:spPr>
          <a:xfrm>
            <a:off x="1115617" y="4509120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Open </a:t>
            </a:r>
            <a:r>
              <a:rPr lang="es-ES" sz="1200" dirty="0" err="1">
                <a:latin typeface="Montserrat" panose="00000500000000000000" pitchFamily="2" charset="0"/>
              </a:rPr>
              <a:t>Sharing</a:t>
            </a:r>
            <a:r>
              <a:rPr lang="es-ES" sz="1200" dirty="0">
                <a:latin typeface="Montserrat" panose="00000500000000000000" pitchFamily="2" charset="0"/>
              </a:rPr>
              <a:t> entre organizaciones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D4D5100-727F-492B-0BA0-A53ADC89DD12}"/>
              </a:ext>
            </a:extLst>
          </p:cNvPr>
          <p:cNvSpPr txBox="1"/>
          <p:nvPr/>
        </p:nvSpPr>
        <p:spPr>
          <a:xfrm>
            <a:off x="3644044" y="4509119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Open Marketplace para todos tus datos, IA y aplicaciones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1A34805-09C3-C350-0413-B58FB956E24D}"/>
              </a:ext>
            </a:extLst>
          </p:cNvPr>
          <p:cNvSpPr txBox="1"/>
          <p:nvPr/>
        </p:nvSpPr>
        <p:spPr>
          <a:xfrm>
            <a:off x="6440705" y="4509119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Espacio privado de computación y colaboración</a:t>
            </a:r>
          </a:p>
        </p:txBody>
      </p:sp>
    </p:spTree>
    <p:extLst>
      <p:ext uri="{BB962C8B-B14F-4D97-AF65-F5344CB8AC3E}">
        <p14:creationId xmlns:p14="http://schemas.microsoft.com/office/powerpoint/2010/main" val="1446044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57130-3270-0359-E2D8-9CA8CA906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7A3EFFC0-87D8-7546-0108-988F6DDF9EE3}"/>
              </a:ext>
            </a:extLst>
          </p:cNvPr>
          <p:cNvSpPr/>
          <p:nvPr/>
        </p:nvSpPr>
        <p:spPr>
          <a:xfrm>
            <a:off x="4988039" y="2011245"/>
            <a:ext cx="3188604" cy="177538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3CD913F-2F2F-443F-D081-0A463678F940}"/>
              </a:ext>
            </a:extLst>
          </p:cNvPr>
          <p:cNvSpPr/>
          <p:nvPr/>
        </p:nvSpPr>
        <p:spPr>
          <a:xfrm>
            <a:off x="539552" y="1987651"/>
            <a:ext cx="3168352" cy="177538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B24508D-DCD4-89D3-42D2-15D650308482}"/>
              </a:ext>
            </a:extLst>
          </p:cNvPr>
          <p:cNvSpPr/>
          <p:nvPr/>
        </p:nvSpPr>
        <p:spPr>
          <a:xfrm>
            <a:off x="539552" y="1987651"/>
            <a:ext cx="3096344" cy="170337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492C57F-A9E1-1C1F-663B-6B1BFE64BAB3}"/>
              </a:ext>
            </a:extLst>
          </p:cNvPr>
          <p:cNvSpPr/>
          <p:nvPr/>
        </p:nvSpPr>
        <p:spPr>
          <a:xfrm>
            <a:off x="4998724" y="2023655"/>
            <a:ext cx="3096344" cy="170337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D395B16-B94D-9DC1-1E15-16AC092F9055}"/>
              </a:ext>
            </a:extLst>
          </p:cNvPr>
          <p:cNvSpPr/>
          <p:nvPr/>
        </p:nvSpPr>
        <p:spPr>
          <a:xfrm>
            <a:off x="899592" y="1843635"/>
            <a:ext cx="2376264" cy="288032"/>
          </a:xfrm>
          <a:prstGeom prst="roundRect">
            <a:avLst/>
          </a:prstGeom>
          <a:solidFill>
            <a:srgbClr val="507B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Data </a:t>
            </a:r>
            <a:r>
              <a:rPr lang="es-ES" sz="1200" dirty="0" err="1">
                <a:latin typeface="Montserrat" panose="00000500000000000000" pitchFamily="2" charset="0"/>
              </a:rPr>
              <a:t>provider</a:t>
            </a:r>
            <a:endParaRPr lang="es-ES" sz="1200" dirty="0">
              <a:latin typeface="Montserrat" panose="00000500000000000000" pitchFamily="2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D276BFB-E6CD-11D2-D875-F21A40DADBAE}"/>
              </a:ext>
            </a:extLst>
          </p:cNvPr>
          <p:cNvSpPr/>
          <p:nvPr/>
        </p:nvSpPr>
        <p:spPr>
          <a:xfrm>
            <a:off x="5279182" y="1843635"/>
            <a:ext cx="2376264" cy="288032"/>
          </a:xfrm>
          <a:prstGeom prst="roundRect">
            <a:avLst/>
          </a:prstGeom>
          <a:solidFill>
            <a:srgbClr val="507B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Data </a:t>
            </a:r>
            <a:r>
              <a:rPr lang="es-ES" sz="1200" dirty="0" err="1">
                <a:latin typeface="Montserrat" panose="00000500000000000000" pitchFamily="2" charset="0"/>
              </a:rPr>
              <a:t>consumer</a:t>
            </a:r>
            <a:endParaRPr lang="es-ES" sz="1200" dirty="0">
              <a:latin typeface="Montserrat" panose="00000500000000000000" pitchFamily="2" charset="0"/>
            </a:endParaRPr>
          </a:p>
        </p:txBody>
      </p:sp>
      <p:pic>
        <p:nvPicPr>
          <p:cNvPr id="14" name="Imagen 13" descr="Imagen en blanco y negro&#10;&#10;El contenido generado por IA puede ser incorrecto.">
            <a:extLst>
              <a:ext uri="{FF2B5EF4-FFF2-40B4-BE49-F238E27FC236}">
                <a16:creationId xmlns:a16="http://schemas.microsoft.com/office/drawing/2014/main" id="{6332F937-8355-33E9-A46C-FBDE7FD67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025" y="2400021"/>
            <a:ext cx="481546" cy="481546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234AE690-29A9-6BFE-E125-F67C50F1555F}"/>
              </a:ext>
            </a:extLst>
          </p:cNvPr>
          <p:cNvGrpSpPr/>
          <p:nvPr/>
        </p:nvGrpSpPr>
        <p:grpSpPr>
          <a:xfrm>
            <a:off x="965338" y="2743983"/>
            <a:ext cx="359342" cy="302209"/>
            <a:chOff x="3706417" y="3214370"/>
            <a:chExt cx="1578768" cy="1422814"/>
          </a:xfrm>
          <a:solidFill>
            <a:srgbClr val="F2F2F2"/>
          </a:solidFill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D11662E6-5038-6653-C5F3-73D0EFAEB00F}"/>
                </a:ext>
              </a:extLst>
            </p:cNvPr>
            <p:cNvSpPr/>
            <p:nvPr/>
          </p:nvSpPr>
          <p:spPr>
            <a:xfrm>
              <a:off x="3706417" y="3214370"/>
              <a:ext cx="1578768" cy="1422814"/>
            </a:xfrm>
            <a:prstGeom prst="ellips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3" name="Imagen 12" descr="Icono&#10;&#10;El contenido generado por IA puede ser incorrecto.">
              <a:extLst>
                <a:ext uri="{FF2B5EF4-FFF2-40B4-BE49-F238E27FC236}">
                  <a16:creationId xmlns:a16="http://schemas.microsoft.com/office/drawing/2014/main" id="{88D67C34-1DAD-7A0F-4461-1537D0C18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2777" y="3550535"/>
              <a:ext cx="886048" cy="750483"/>
            </a:xfrm>
            <a:prstGeom prst="rect">
              <a:avLst/>
            </a:prstGeom>
            <a:grpFill/>
          </p:spPr>
        </p:pic>
      </p:grp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F11BBC8F-7A06-A030-7D75-16C5E0C421DD}"/>
              </a:ext>
            </a:extLst>
          </p:cNvPr>
          <p:cNvCxnSpPr/>
          <p:nvPr/>
        </p:nvCxnSpPr>
        <p:spPr>
          <a:xfrm>
            <a:off x="1851738" y="2632471"/>
            <a:ext cx="61151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upo 19">
            <a:extLst>
              <a:ext uri="{FF2B5EF4-FFF2-40B4-BE49-F238E27FC236}">
                <a16:creationId xmlns:a16="http://schemas.microsoft.com/office/drawing/2014/main" id="{9AD34C76-08D1-4C92-ABA9-A199907D70A2}"/>
              </a:ext>
            </a:extLst>
          </p:cNvPr>
          <p:cNvGrpSpPr/>
          <p:nvPr/>
        </p:nvGrpSpPr>
        <p:grpSpPr>
          <a:xfrm>
            <a:off x="5076056" y="2193238"/>
            <a:ext cx="811649" cy="201641"/>
            <a:chOff x="5263901" y="3313943"/>
            <a:chExt cx="1080305" cy="295222"/>
          </a:xfrm>
        </p:grpSpPr>
        <p:pic>
          <p:nvPicPr>
            <p:cNvPr id="18" name="Gráfico 17">
              <a:extLst>
                <a:ext uri="{FF2B5EF4-FFF2-40B4-BE49-F238E27FC236}">
                  <a16:creationId xmlns:a16="http://schemas.microsoft.com/office/drawing/2014/main" id="{E044FD99-830E-7E1C-8373-6DC9726CF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263901" y="3333088"/>
              <a:ext cx="276077" cy="276077"/>
            </a:xfrm>
            <a:prstGeom prst="rect">
              <a:avLst/>
            </a:prstGeom>
          </p:spPr>
        </p:pic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B0301B84-1D28-A7E8-1BCF-D785C490CD3C}"/>
                </a:ext>
              </a:extLst>
            </p:cNvPr>
            <p:cNvSpPr txBox="1"/>
            <p:nvPr/>
          </p:nvSpPr>
          <p:spPr>
            <a:xfrm>
              <a:off x="5439976" y="3313943"/>
              <a:ext cx="904230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  <a:latin typeface="+mj-lt"/>
                </a:rPr>
                <a:t>pandas</a:t>
              </a:r>
            </a:p>
          </p:txBody>
        </p:sp>
      </p:grpSp>
      <p:pic>
        <p:nvPicPr>
          <p:cNvPr id="26" name="Imagen 25" descr="Logotipo&#10;&#10;El contenido generado por IA puede ser incorrecto.">
            <a:extLst>
              <a:ext uri="{FF2B5EF4-FFF2-40B4-BE49-F238E27FC236}">
                <a16:creationId xmlns:a16="http://schemas.microsoft.com/office/drawing/2014/main" id="{A17CD4E7-B8FB-14CF-147F-19AD93FB80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675" y="3299001"/>
            <a:ext cx="542639" cy="361759"/>
          </a:xfrm>
          <a:prstGeom prst="rect">
            <a:avLst/>
          </a:prstGeom>
        </p:spPr>
      </p:pic>
      <p:pic>
        <p:nvPicPr>
          <p:cNvPr id="42" name="Imagen 41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C07A5489-DB70-1C28-589C-6183DB53E2D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349" y="2970943"/>
            <a:ext cx="328058" cy="328058"/>
          </a:xfrm>
          <a:prstGeom prst="rect">
            <a:avLst/>
          </a:prstGeom>
        </p:spPr>
      </p:pic>
      <p:pic>
        <p:nvPicPr>
          <p:cNvPr id="48" name="Gráfico 47">
            <a:extLst>
              <a:ext uri="{FF2B5EF4-FFF2-40B4-BE49-F238E27FC236}">
                <a16:creationId xmlns:a16="http://schemas.microsoft.com/office/drawing/2014/main" id="{AF1371E4-FA7F-1E06-E98E-9963DD7060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96222" y="3235125"/>
            <a:ext cx="458643" cy="458643"/>
          </a:xfrm>
          <a:prstGeom prst="rect">
            <a:avLst/>
          </a:prstGeom>
        </p:spPr>
      </p:pic>
      <p:pic>
        <p:nvPicPr>
          <p:cNvPr id="52" name="Imagen 51" descr="Icono&#10;&#10;El contenido generado por IA puede ser incorrecto.">
            <a:extLst>
              <a:ext uri="{FF2B5EF4-FFF2-40B4-BE49-F238E27FC236}">
                <a16:creationId xmlns:a16="http://schemas.microsoft.com/office/drawing/2014/main" id="{14824560-8D8A-233C-E6BC-64813D3C882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644" y="2363043"/>
            <a:ext cx="587226" cy="587226"/>
          </a:xfrm>
          <a:prstGeom prst="rect">
            <a:avLst/>
          </a:prstGeom>
        </p:spPr>
      </p:pic>
      <p:pic>
        <p:nvPicPr>
          <p:cNvPr id="54" name="Imagen 53" descr="Icono&#10;&#10;El contenido generado por IA puede ser incorrecto.">
            <a:extLst>
              <a:ext uri="{FF2B5EF4-FFF2-40B4-BE49-F238E27FC236}">
                <a16:creationId xmlns:a16="http://schemas.microsoft.com/office/drawing/2014/main" id="{B076B5B2-3476-EDBC-D436-ED7ACE7867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100" y="2538895"/>
            <a:ext cx="296195" cy="296195"/>
          </a:xfrm>
          <a:prstGeom prst="rect">
            <a:avLst/>
          </a:prstGeom>
        </p:spPr>
      </p:pic>
      <p:pic>
        <p:nvPicPr>
          <p:cNvPr id="58" name="Imagen 57" descr="Código QR&#10;&#10;El contenido generado por IA puede ser incorrecto.">
            <a:extLst>
              <a:ext uri="{FF2B5EF4-FFF2-40B4-BE49-F238E27FC236}">
                <a16:creationId xmlns:a16="http://schemas.microsoft.com/office/drawing/2014/main" id="{167884AB-A9C0-4FFD-0337-98D6994977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934" y="2530732"/>
            <a:ext cx="296195" cy="296195"/>
          </a:xfrm>
          <a:prstGeom prst="rect">
            <a:avLst/>
          </a:prstGeom>
        </p:spPr>
      </p:pic>
      <p:pic>
        <p:nvPicPr>
          <p:cNvPr id="60" name="Imagen 59" descr="Dibujo con letras blancas&#10;&#10;El contenido generado por IA puede ser incorrecto.">
            <a:extLst>
              <a:ext uri="{FF2B5EF4-FFF2-40B4-BE49-F238E27FC236}">
                <a16:creationId xmlns:a16="http://schemas.microsoft.com/office/drawing/2014/main" id="{B30588B7-63E3-B531-D3D8-2C4F89D350F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962780"/>
            <a:ext cx="296195" cy="296195"/>
          </a:xfrm>
          <a:prstGeom prst="rect">
            <a:avLst/>
          </a:prstGeom>
        </p:spPr>
      </p:pic>
      <p:sp>
        <p:nvSpPr>
          <p:cNvPr id="61" name="Google Shape;303;g35ee5cc475b_0_63">
            <a:extLst>
              <a:ext uri="{FF2B5EF4-FFF2-40B4-BE49-F238E27FC236}">
                <a16:creationId xmlns:a16="http://schemas.microsoft.com/office/drawing/2014/main" id="{F6E09A6E-C7F6-93EE-C773-CEBA3DB7AB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2. Data </a:t>
            </a:r>
            <a:r>
              <a:rPr lang="es-ES" dirty="0" err="1">
                <a:latin typeface="Montserrat" panose="00000500000000000000" pitchFamily="2" charset="0"/>
              </a:rPr>
              <a:t>Sharing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Delta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Sharing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pic>
        <p:nvPicPr>
          <p:cNvPr id="63" name="Imagen 62" descr="Dibujo en blanco y negro&#10;&#10;El contenido generado por IA puede ser incorrecto.">
            <a:extLst>
              <a:ext uri="{FF2B5EF4-FFF2-40B4-BE49-F238E27FC236}">
                <a16:creationId xmlns:a16="http://schemas.microsoft.com/office/drawing/2014/main" id="{13903288-9D5B-0F11-03B9-84949E3591D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11" y="4227249"/>
            <a:ext cx="296195" cy="296195"/>
          </a:xfrm>
          <a:prstGeom prst="rect">
            <a:avLst/>
          </a:prstGeom>
        </p:spPr>
      </p:pic>
      <p:pic>
        <p:nvPicPr>
          <p:cNvPr id="65" name="Imagen 64" descr="Icono&#10;&#10;El contenido generado por IA puede ser incorrecto.">
            <a:extLst>
              <a:ext uri="{FF2B5EF4-FFF2-40B4-BE49-F238E27FC236}">
                <a16:creationId xmlns:a16="http://schemas.microsoft.com/office/drawing/2014/main" id="{D42593B7-67B1-D0C6-A995-A1518B662E8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197" y="4240501"/>
            <a:ext cx="269268" cy="269268"/>
          </a:xfrm>
          <a:prstGeom prst="rect">
            <a:avLst/>
          </a:prstGeom>
        </p:spPr>
      </p:pic>
      <p:sp>
        <p:nvSpPr>
          <p:cNvPr id="66" name="CuadroTexto 65">
            <a:extLst>
              <a:ext uri="{FF2B5EF4-FFF2-40B4-BE49-F238E27FC236}">
                <a16:creationId xmlns:a16="http://schemas.microsoft.com/office/drawing/2014/main" id="{5F92E27E-BAA9-738A-4393-A2297B5ADB1F}"/>
              </a:ext>
            </a:extLst>
          </p:cNvPr>
          <p:cNvSpPr txBox="1"/>
          <p:nvPr/>
        </p:nvSpPr>
        <p:spPr>
          <a:xfrm>
            <a:off x="6804248" y="2826927"/>
            <a:ext cx="10081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Cualquier cliente compatible…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B21C12AC-DF43-D15E-3309-605D3BC49426}"/>
              </a:ext>
            </a:extLst>
          </p:cNvPr>
          <p:cNvSpPr txBox="1"/>
          <p:nvPr/>
        </p:nvSpPr>
        <p:spPr>
          <a:xfrm>
            <a:off x="2476482" y="3080842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Delta </a:t>
            </a:r>
            <a:r>
              <a:rPr lang="es-ES" sz="900" dirty="0" err="1">
                <a:solidFill>
                  <a:schemeClr val="bg1"/>
                </a:solidFill>
                <a:latin typeface="Montserrat" panose="00000500000000000000" pitchFamily="2" charset="0"/>
              </a:rPr>
              <a:t>Sharing</a:t>
            </a:r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 server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5B1116FD-F94A-6735-5BF6-EFA31E9D2468}"/>
              </a:ext>
            </a:extLst>
          </p:cNvPr>
          <p:cNvSpPr txBox="1"/>
          <p:nvPr/>
        </p:nvSpPr>
        <p:spPr>
          <a:xfrm>
            <a:off x="539552" y="3050459"/>
            <a:ext cx="164949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Data &amp; AI </a:t>
            </a:r>
            <a:r>
              <a:rPr lang="es-ES" sz="900" dirty="0" err="1">
                <a:solidFill>
                  <a:schemeClr val="bg1"/>
                </a:solidFill>
                <a:latin typeface="Montserrat" panose="00000500000000000000" pitchFamily="2" charset="0"/>
              </a:rPr>
              <a:t>asset</a:t>
            </a:r>
            <a:endParaRPr lang="es-ES" sz="9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(tabla/vista/Archivo/catalogo federado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030ADC00-83D7-85B6-9477-7A0CAAC51C2E}"/>
              </a:ext>
            </a:extLst>
          </p:cNvPr>
          <p:cNvSpPr txBox="1"/>
          <p:nvPr/>
        </p:nvSpPr>
        <p:spPr>
          <a:xfrm>
            <a:off x="1345734" y="4181018"/>
            <a:ext cx="1623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Montserrat" panose="00000500000000000000" pitchFamily="2" charset="0"/>
              </a:rPr>
              <a:t>Comparte a través de </a:t>
            </a:r>
            <a:r>
              <a:rPr lang="es-ES" sz="1000" dirty="0" err="1">
                <a:latin typeface="Montserrat" panose="00000500000000000000" pitchFamily="2" charset="0"/>
              </a:rPr>
              <a:t>platadormas</a:t>
            </a:r>
            <a:endParaRPr lang="es-ES" sz="1000" dirty="0">
              <a:latin typeface="Montserrat" panose="00000500000000000000" pitchFamily="2" charset="0"/>
            </a:endParaRP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63C50D15-499F-D468-EFDD-3285EE535482}"/>
              </a:ext>
            </a:extLst>
          </p:cNvPr>
          <p:cNvSpPr txBox="1"/>
          <p:nvPr/>
        </p:nvSpPr>
        <p:spPr>
          <a:xfrm>
            <a:off x="5735133" y="4173905"/>
            <a:ext cx="1623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Montserrat" panose="00000500000000000000" pitchFamily="2" charset="0"/>
              </a:rPr>
              <a:t>Comparte datos sin replicarlos</a:t>
            </a:r>
          </a:p>
        </p:txBody>
      </p: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460583A0-6A53-77FE-6C2B-5B9E6B41CAA0}"/>
              </a:ext>
            </a:extLst>
          </p:cNvPr>
          <p:cNvCxnSpPr/>
          <p:nvPr/>
        </p:nvCxnSpPr>
        <p:spPr>
          <a:xfrm>
            <a:off x="3851920" y="2881567"/>
            <a:ext cx="10081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190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8BC3C-36E3-8030-E803-B19B20FAE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upo 50">
            <a:extLst>
              <a:ext uri="{FF2B5EF4-FFF2-40B4-BE49-F238E27FC236}">
                <a16:creationId xmlns:a16="http://schemas.microsoft.com/office/drawing/2014/main" id="{9063A01B-1418-FD22-6C45-7DB2E1946184}"/>
              </a:ext>
            </a:extLst>
          </p:cNvPr>
          <p:cNvGrpSpPr/>
          <p:nvPr/>
        </p:nvGrpSpPr>
        <p:grpSpPr>
          <a:xfrm>
            <a:off x="2794239" y="1640606"/>
            <a:ext cx="3555522" cy="3288755"/>
            <a:chOff x="1464964" y="1418758"/>
            <a:chExt cx="3555522" cy="3288755"/>
          </a:xfrm>
        </p:grpSpPr>
        <p:grpSp>
          <p:nvGrpSpPr>
            <p:cNvPr id="50" name="Grupo 49">
              <a:extLst>
                <a:ext uri="{FF2B5EF4-FFF2-40B4-BE49-F238E27FC236}">
                  <a16:creationId xmlns:a16="http://schemas.microsoft.com/office/drawing/2014/main" id="{2C82169A-F1F0-2D42-BDB1-5CCF5CDDC823}"/>
                </a:ext>
              </a:extLst>
            </p:cNvPr>
            <p:cNvGrpSpPr/>
            <p:nvPr/>
          </p:nvGrpSpPr>
          <p:grpSpPr>
            <a:xfrm>
              <a:off x="1464964" y="1418758"/>
              <a:ext cx="3555522" cy="3288755"/>
              <a:chOff x="2024591" y="2156469"/>
              <a:chExt cx="3555522" cy="3288755"/>
            </a:xfrm>
          </p:grpSpPr>
          <p:grpSp>
            <p:nvGrpSpPr>
              <p:cNvPr id="16" name="Grupo 15">
                <a:extLst>
                  <a:ext uri="{FF2B5EF4-FFF2-40B4-BE49-F238E27FC236}">
                    <a16:creationId xmlns:a16="http://schemas.microsoft.com/office/drawing/2014/main" id="{E7E8CA89-F468-2125-987F-52A5726EFDBF}"/>
                  </a:ext>
                </a:extLst>
              </p:cNvPr>
              <p:cNvGrpSpPr/>
              <p:nvPr/>
            </p:nvGrpSpPr>
            <p:grpSpPr>
              <a:xfrm>
                <a:off x="2024591" y="2156469"/>
                <a:ext cx="3555522" cy="3288755"/>
                <a:chOff x="2024590" y="2156469"/>
                <a:chExt cx="4117459" cy="3609555"/>
              </a:xfrm>
            </p:grpSpPr>
            <p:sp>
              <p:nvSpPr>
                <p:cNvPr id="9" name="Hexágono 8">
                  <a:extLst>
                    <a:ext uri="{FF2B5EF4-FFF2-40B4-BE49-F238E27FC236}">
                      <a16:creationId xmlns:a16="http://schemas.microsoft.com/office/drawing/2014/main" id="{344111D6-3540-2DFF-BDC2-1746F44BE677}"/>
                    </a:ext>
                  </a:extLst>
                </p:cNvPr>
                <p:cNvSpPr/>
                <p:nvPr/>
              </p:nvSpPr>
              <p:spPr>
                <a:xfrm rot="5400000">
                  <a:off x="2692040" y="2192473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0" name="Hexágono 9">
                  <a:extLst>
                    <a:ext uri="{FF2B5EF4-FFF2-40B4-BE49-F238E27FC236}">
                      <a16:creationId xmlns:a16="http://schemas.microsoft.com/office/drawing/2014/main" id="{BE1E014B-14CF-E627-5D0B-DD7A4F33C278}"/>
                    </a:ext>
                  </a:extLst>
                </p:cNvPr>
                <p:cNvSpPr/>
                <p:nvPr/>
              </p:nvSpPr>
              <p:spPr>
                <a:xfrm rot="5400000">
                  <a:off x="4103950" y="2194568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1" name="Hexágono 10">
                  <a:extLst>
                    <a:ext uri="{FF2B5EF4-FFF2-40B4-BE49-F238E27FC236}">
                      <a16:creationId xmlns:a16="http://schemas.microsoft.com/office/drawing/2014/main" id="{315BBA82-1774-9CD5-7B5E-872DE6C15B6A}"/>
                    </a:ext>
                  </a:extLst>
                </p:cNvPr>
                <p:cNvSpPr/>
                <p:nvPr/>
              </p:nvSpPr>
              <p:spPr>
                <a:xfrm rot="5400000">
                  <a:off x="3397995" y="3307271"/>
                  <a:ext cx="1368152" cy="1296144"/>
                </a:xfrm>
                <a:prstGeom prst="hexagon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2" name="Hexágono 11">
                  <a:extLst>
                    <a:ext uri="{FF2B5EF4-FFF2-40B4-BE49-F238E27FC236}">
                      <a16:creationId xmlns:a16="http://schemas.microsoft.com/office/drawing/2014/main" id="{6E65C58A-E9FB-3F98-2A49-C3372F63F2BD}"/>
                    </a:ext>
                  </a:extLst>
                </p:cNvPr>
                <p:cNvSpPr/>
                <p:nvPr/>
              </p:nvSpPr>
              <p:spPr>
                <a:xfrm rot="5400000">
                  <a:off x="4809901" y="3303450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3" name="Hexágono 12">
                  <a:extLst>
                    <a:ext uri="{FF2B5EF4-FFF2-40B4-BE49-F238E27FC236}">
                      <a16:creationId xmlns:a16="http://schemas.microsoft.com/office/drawing/2014/main" id="{FACED57A-D795-0715-26C5-E3CCD8C9A876}"/>
                    </a:ext>
                  </a:extLst>
                </p:cNvPr>
                <p:cNvSpPr/>
                <p:nvPr/>
              </p:nvSpPr>
              <p:spPr>
                <a:xfrm rot="5400000">
                  <a:off x="1988586" y="3319078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4" name="Hexágono 13">
                  <a:extLst>
                    <a:ext uri="{FF2B5EF4-FFF2-40B4-BE49-F238E27FC236}">
                      <a16:creationId xmlns:a16="http://schemas.microsoft.com/office/drawing/2014/main" id="{07358DA5-EF1F-BA85-32CC-7529C9893684}"/>
                    </a:ext>
                  </a:extLst>
                </p:cNvPr>
                <p:cNvSpPr/>
                <p:nvPr/>
              </p:nvSpPr>
              <p:spPr>
                <a:xfrm rot="5400000">
                  <a:off x="2692040" y="4433876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5" name="Hexágono 14">
                  <a:extLst>
                    <a:ext uri="{FF2B5EF4-FFF2-40B4-BE49-F238E27FC236}">
                      <a16:creationId xmlns:a16="http://schemas.microsoft.com/office/drawing/2014/main" id="{0961F96E-AEED-C514-125B-64579C506908}"/>
                    </a:ext>
                  </a:extLst>
                </p:cNvPr>
                <p:cNvSpPr/>
                <p:nvPr/>
              </p:nvSpPr>
              <p:spPr>
                <a:xfrm rot="5400000">
                  <a:off x="4103950" y="4433876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pic>
            <p:nvPicPr>
              <p:cNvPr id="24" name="Gráfico 23">
                <a:extLst>
                  <a:ext uri="{FF2B5EF4-FFF2-40B4-BE49-F238E27FC236}">
                    <a16:creationId xmlns:a16="http://schemas.microsoft.com/office/drawing/2014/main" id="{52C6D1E7-1DA3-AD7B-C7F2-165C0B49FA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576927" y="3376138"/>
                <a:ext cx="451290" cy="498105"/>
              </a:xfrm>
              <a:prstGeom prst="rect">
                <a:avLst/>
              </a:prstGeom>
            </p:spPr>
          </p:pic>
          <p:pic>
            <p:nvPicPr>
              <p:cNvPr id="26" name="Imagen 25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F1F5C3B7-824F-EB61-D235-864426944B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75136" y="3361205"/>
                <a:ext cx="433659" cy="433659"/>
              </a:xfrm>
              <a:prstGeom prst="rect">
                <a:avLst/>
              </a:prstGeom>
            </p:spPr>
          </p:pic>
          <p:pic>
            <p:nvPicPr>
              <p:cNvPr id="28" name="Imagen 27" descr="Imagen que contiene Código QR&#10;&#10;El contenido generado por IA puede ser incorrecto.">
                <a:extLst>
                  <a:ext uri="{FF2B5EF4-FFF2-40B4-BE49-F238E27FC236}">
                    <a16:creationId xmlns:a16="http://schemas.microsoft.com/office/drawing/2014/main" id="{581B800D-9524-E3F3-621E-7A249791FB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22838" y="4371885"/>
                <a:ext cx="524728" cy="524728"/>
              </a:xfrm>
              <a:prstGeom prst="rect">
                <a:avLst/>
              </a:prstGeom>
            </p:spPr>
          </p:pic>
          <p:pic>
            <p:nvPicPr>
              <p:cNvPr id="30" name="Imagen 29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DA098FAE-5445-1BBF-8901-3D7729D961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13763" y="4396117"/>
                <a:ext cx="394235" cy="394235"/>
              </a:xfrm>
              <a:prstGeom prst="rect">
                <a:avLst/>
              </a:prstGeom>
            </p:spPr>
          </p:pic>
          <p:pic>
            <p:nvPicPr>
              <p:cNvPr id="34" name="Imagen 33" descr="Imagen en blanco y negro&#10;&#10;El contenido generado por IA puede ser incorrecto.">
                <a:extLst>
                  <a:ext uri="{FF2B5EF4-FFF2-40B4-BE49-F238E27FC236}">
                    <a16:creationId xmlns:a16="http://schemas.microsoft.com/office/drawing/2014/main" id="{6F7DA885-41C3-3DEC-9B0D-9A5B120341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86213" y="2347269"/>
                <a:ext cx="433659" cy="433659"/>
              </a:xfrm>
              <a:prstGeom prst="rect">
                <a:avLst/>
              </a:prstGeom>
            </p:spPr>
          </p:pic>
          <p:pic>
            <p:nvPicPr>
              <p:cNvPr id="38" name="Imagen 37" descr="Código QR&#10;&#10;El contenido generado por IA puede ser incorrecto.">
                <a:extLst>
                  <a:ext uri="{FF2B5EF4-FFF2-40B4-BE49-F238E27FC236}">
                    <a16:creationId xmlns:a16="http://schemas.microsoft.com/office/drawing/2014/main" id="{AB9B81CB-C689-9865-0C60-5D2EE8001B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72367" y="2303903"/>
                <a:ext cx="477025" cy="477025"/>
              </a:xfrm>
              <a:prstGeom prst="rect">
                <a:avLst/>
              </a:prstGeom>
            </p:spPr>
          </p:pic>
          <p:pic>
            <p:nvPicPr>
              <p:cNvPr id="42" name="Imagen 41" descr="Imagen que contiene indicador, dispositivo, medidor, reloj&#10;&#10;El contenido generado por IA puede ser incorrecto.">
                <a:extLst>
                  <a:ext uri="{FF2B5EF4-FFF2-40B4-BE49-F238E27FC236}">
                    <a16:creationId xmlns:a16="http://schemas.microsoft.com/office/drawing/2014/main" id="{6C1F50C8-30CC-F6D1-6F4E-1FC1BDF878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58122" y="3267987"/>
                <a:ext cx="524728" cy="524728"/>
              </a:xfrm>
              <a:prstGeom prst="rect">
                <a:avLst/>
              </a:prstGeom>
            </p:spPr>
          </p:pic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D0DAC4AF-2B68-F285-4547-7BB827144E6C}"/>
                  </a:ext>
                </a:extLst>
              </p:cNvPr>
              <p:cNvSpPr txBox="1"/>
              <p:nvPr/>
            </p:nvSpPr>
            <p:spPr>
              <a:xfrm>
                <a:off x="2780214" y="2865083"/>
                <a:ext cx="77415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Data Files</a:t>
                </a:r>
              </a:p>
            </p:txBody>
          </p:sp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65E56079-5836-50E5-F294-CD8BA5B59F58}"/>
                  </a:ext>
                </a:extLst>
              </p:cNvPr>
              <p:cNvSpPr txBox="1"/>
              <p:nvPr/>
            </p:nvSpPr>
            <p:spPr>
              <a:xfrm>
                <a:off x="3988052" y="2857020"/>
                <a:ext cx="8456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Data Tables</a:t>
                </a:r>
              </a:p>
            </p:txBody>
          </p:sp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063C5DBF-808E-097C-2D1A-47B166771C69}"/>
                  </a:ext>
                </a:extLst>
              </p:cNvPr>
              <p:cNvSpPr txBox="1"/>
              <p:nvPr/>
            </p:nvSpPr>
            <p:spPr>
              <a:xfrm>
                <a:off x="2117232" y="3849964"/>
                <a:ext cx="93396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Notebooks</a:t>
                </a:r>
              </a:p>
            </p:txBody>
          </p:sp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1993E06B-25BF-1E69-3988-124931604130}"/>
                  </a:ext>
                </a:extLst>
              </p:cNvPr>
              <p:cNvSpPr txBox="1"/>
              <p:nvPr/>
            </p:nvSpPr>
            <p:spPr>
              <a:xfrm>
                <a:off x="3287969" y="3935123"/>
                <a:ext cx="102660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5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Marketplace</a:t>
                </a:r>
              </a:p>
            </p:txBody>
          </p:sp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24EBEB5E-BBBA-5350-D4F9-1322197AD92F}"/>
                  </a:ext>
                </a:extLst>
              </p:cNvPr>
              <p:cNvSpPr txBox="1"/>
              <p:nvPr/>
            </p:nvSpPr>
            <p:spPr>
              <a:xfrm>
                <a:off x="2688660" y="4901097"/>
                <a:ext cx="10287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ML</a:t>
                </a:r>
              </a:p>
              <a:p>
                <a:pPr algn="ctr"/>
                <a:r>
                  <a:rPr lang="es-ES" sz="9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Models</a:t>
                </a:r>
                <a:endParaRPr lang="es-ES" sz="900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1BD9762D-4A3C-6BAE-09DB-792FE78856EC}"/>
                  </a:ext>
                </a:extLst>
              </p:cNvPr>
              <p:cNvSpPr txBox="1"/>
              <p:nvPr/>
            </p:nvSpPr>
            <p:spPr>
              <a:xfrm>
                <a:off x="3896497" y="4901097"/>
                <a:ext cx="102876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Dashboards</a:t>
                </a:r>
                <a:endParaRPr lang="es-ES" sz="900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49123021-8C48-1C71-899C-877766182810}"/>
                </a:ext>
              </a:extLst>
            </p:cNvPr>
            <p:cNvSpPr txBox="1"/>
            <p:nvPr/>
          </p:nvSpPr>
          <p:spPr>
            <a:xfrm>
              <a:off x="3954127" y="3073175"/>
              <a:ext cx="10287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9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Solution</a:t>
              </a:r>
              <a:endParaRPr lang="es-ES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s-ES" sz="9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Accelerators</a:t>
              </a:r>
              <a:endParaRPr lang="es-ES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3CE05201-C846-DB97-B8BC-104C222315C9}"/>
              </a:ext>
            </a:extLst>
          </p:cNvPr>
          <p:cNvGrpSpPr/>
          <p:nvPr/>
        </p:nvGrpSpPr>
        <p:grpSpPr>
          <a:xfrm>
            <a:off x="6825055" y="1831406"/>
            <a:ext cx="1828348" cy="2167624"/>
            <a:chOff x="467544" y="1788040"/>
            <a:chExt cx="1828348" cy="2167624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1058578B-FD62-8428-D2CD-015CAC70C49F}"/>
                </a:ext>
              </a:extLst>
            </p:cNvPr>
            <p:cNvSpPr/>
            <p:nvPr/>
          </p:nvSpPr>
          <p:spPr>
            <a:xfrm>
              <a:off x="467544" y="1788040"/>
              <a:ext cx="1800200" cy="4168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Data </a:t>
              </a:r>
              <a:r>
                <a:rPr lang="es-ES" sz="1000" b="1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consumers</a:t>
              </a:r>
              <a:endParaRPr lang="es-ES" sz="1000" b="1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F1255BCB-0722-073C-A8BE-7F2CA3527859}"/>
                </a:ext>
              </a:extLst>
            </p:cNvPr>
            <p:cNvGrpSpPr/>
            <p:nvPr/>
          </p:nvGrpSpPr>
          <p:grpSpPr>
            <a:xfrm>
              <a:off x="467544" y="2371640"/>
              <a:ext cx="1828348" cy="1584024"/>
              <a:chOff x="467544" y="2371640"/>
              <a:chExt cx="1828348" cy="1584024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26682931-82AC-F63B-65E3-30BA1F319DDB}"/>
                  </a:ext>
                </a:extLst>
              </p:cNvPr>
              <p:cNvSpPr/>
              <p:nvPr/>
            </p:nvSpPr>
            <p:spPr>
              <a:xfrm>
                <a:off x="467544" y="23716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Descubir</a:t>
                </a:r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 datos e IA </a:t>
                </a:r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assets</a:t>
                </a:r>
                <a:endParaRPr lang="es-ES" sz="1000" dirty="0">
                  <a:solidFill>
                    <a:schemeClr val="accent2">
                      <a:lumMod val="7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3C7FFC05-A48E-2C4C-0423-7D9D38997371}"/>
                  </a:ext>
                </a:extLst>
              </p:cNvPr>
              <p:cNvSpPr/>
              <p:nvPr/>
            </p:nvSpPr>
            <p:spPr>
              <a:xfrm>
                <a:off x="467544" y="29552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Obtener valor desde datos más </a:t>
                </a:r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rapido</a:t>
                </a:r>
                <a:endParaRPr lang="es-ES" sz="1000" dirty="0">
                  <a:solidFill>
                    <a:schemeClr val="accent2">
                      <a:lumMod val="7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CBF1B310-0304-31B0-91BE-9E66DF9E4DB4}"/>
                  </a:ext>
                </a:extLst>
              </p:cNvPr>
              <p:cNvSpPr/>
              <p:nvPr/>
            </p:nvSpPr>
            <p:spPr>
              <a:xfrm>
                <a:off x="495692" y="35388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No requiere entrar en red de cliente</a:t>
                </a:r>
              </a:p>
            </p:txBody>
          </p:sp>
        </p:grp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412638E1-BA5B-BD27-64F7-33CD97F963F7}"/>
              </a:ext>
            </a:extLst>
          </p:cNvPr>
          <p:cNvGrpSpPr/>
          <p:nvPr/>
        </p:nvGrpSpPr>
        <p:grpSpPr>
          <a:xfrm>
            <a:off x="619944" y="1940440"/>
            <a:ext cx="1828348" cy="2167624"/>
            <a:chOff x="467544" y="1788040"/>
            <a:chExt cx="1828348" cy="2167624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BE63270-AB92-2F89-F32D-734F5B686CBC}"/>
                </a:ext>
              </a:extLst>
            </p:cNvPr>
            <p:cNvSpPr/>
            <p:nvPr/>
          </p:nvSpPr>
          <p:spPr>
            <a:xfrm>
              <a:off x="467544" y="1788040"/>
              <a:ext cx="1800200" cy="4168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Data </a:t>
              </a:r>
              <a:r>
                <a:rPr lang="es-ES" sz="1000" b="1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providers</a:t>
              </a:r>
              <a:endParaRPr lang="es-ES" sz="1000" b="1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D28AEC86-8021-FF06-BD6C-ABA2AA00BA3C}"/>
                </a:ext>
              </a:extLst>
            </p:cNvPr>
            <p:cNvGrpSpPr/>
            <p:nvPr/>
          </p:nvGrpSpPr>
          <p:grpSpPr>
            <a:xfrm>
              <a:off x="467544" y="2371640"/>
              <a:ext cx="1828348" cy="1584024"/>
              <a:chOff x="467544" y="2371640"/>
              <a:chExt cx="1828348" cy="1584024"/>
            </a:xfrm>
          </p:grpSpPr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FF58879A-DAFE-A4A6-6089-72B2F0CFF4F3}"/>
                  </a:ext>
                </a:extLst>
              </p:cNvPr>
              <p:cNvSpPr/>
              <p:nvPr/>
            </p:nvSpPr>
            <p:spPr>
              <a:xfrm>
                <a:off x="467544" y="23716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Monetize</a:t>
                </a:r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 new </a:t>
                </a:r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assets</a:t>
                </a:r>
                <a:endParaRPr lang="es-ES" sz="1000" dirty="0">
                  <a:solidFill>
                    <a:schemeClr val="accent2">
                      <a:lumMod val="7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064B13C9-5425-F84D-0DBC-3D4E15291A5F}"/>
                  </a:ext>
                </a:extLst>
              </p:cNvPr>
              <p:cNvSpPr/>
              <p:nvPr/>
            </p:nvSpPr>
            <p:spPr>
              <a:xfrm>
                <a:off x="467544" y="29552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Incrementar alcance a clientes</a:t>
                </a:r>
              </a:p>
            </p:txBody>
          </p:sp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48DC490C-D341-6EC8-6504-881E4A7CC260}"/>
                  </a:ext>
                </a:extLst>
              </p:cNvPr>
              <p:cNvSpPr/>
              <p:nvPr/>
            </p:nvSpPr>
            <p:spPr>
              <a:xfrm>
                <a:off x="495692" y="35388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No requiere </a:t>
                </a:r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replicacion</a:t>
                </a:r>
                <a:endParaRPr lang="es-ES" sz="1000" dirty="0">
                  <a:solidFill>
                    <a:schemeClr val="accent2">
                      <a:lumMod val="7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</p:grpSp>
      </p:grpSp>
      <p:sp>
        <p:nvSpPr>
          <p:cNvPr id="29" name="Google Shape;303;g35ee5cc475b_0_63">
            <a:extLst>
              <a:ext uri="{FF2B5EF4-FFF2-40B4-BE49-F238E27FC236}">
                <a16:creationId xmlns:a16="http://schemas.microsoft.com/office/drawing/2014/main" id="{A7AF53A3-FA5A-9278-F949-336E933289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2. Data </a:t>
            </a:r>
            <a:r>
              <a:rPr lang="es-ES" dirty="0" err="1">
                <a:latin typeface="Montserrat" panose="00000500000000000000" pitchFamily="2" charset="0"/>
              </a:rPr>
              <a:t>Sharing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Data Marketplace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582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92FB7-8F54-2902-5062-2C59988B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6F791D-4DB7-7B01-D597-7CE2848FBA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s-ES" sz="1200" dirty="0"/>
              <a:t>2 o mas organizaciones quieren colaborar en un proyecto de datos, pero quieren proteger datos sus datos sensibles</a:t>
            </a:r>
          </a:p>
          <a:p>
            <a:r>
              <a:rPr lang="es-ES" sz="1200" dirty="0"/>
              <a:t>Queremos hacer computación sobre estos datos que </a:t>
            </a:r>
            <a:r>
              <a:rPr lang="es-ES" sz="1200" dirty="0" err="1"/>
              <a:t>copartimos</a:t>
            </a:r>
            <a:endParaRPr lang="es-ES" sz="1200" dirty="0"/>
          </a:p>
          <a:p>
            <a:r>
              <a:rPr lang="es-ES" sz="1200" dirty="0"/>
              <a:t>Cross </a:t>
            </a:r>
            <a:r>
              <a:rPr lang="es-ES" sz="1200" dirty="0" err="1"/>
              <a:t>platform</a:t>
            </a:r>
            <a:r>
              <a:rPr lang="es-ES" sz="1200" dirty="0"/>
              <a:t> -&gt; </a:t>
            </a:r>
            <a:r>
              <a:rPr lang="es-ES" sz="1200" dirty="0" err="1"/>
              <a:t>closs</a:t>
            </a:r>
            <a:r>
              <a:rPr lang="es-ES" sz="1200" dirty="0"/>
              <a:t> </a:t>
            </a:r>
            <a:r>
              <a:rPr lang="es-ES" sz="1200" dirty="0" err="1"/>
              <a:t>cloud</a:t>
            </a:r>
            <a:endParaRPr lang="es-ES" sz="1200" dirty="0"/>
          </a:p>
          <a:p>
            <a:r>
              <a:rPr lang="es-ES" sz="1200" dirty="0"/>
              <a:t>Permite machine </a:t>
            </a:r>
            <a:r>
              <a:rPr lang="es-ES" sz="1200" dirty="0" err="1"/>
              <a:t>learning</a:t>
            </a:r>
            <a:r>
              <a:rPr lang="es-ES" sz="1200" dirty="0"/>
              <a:t>, </a:t>
            </a:r>
            <a:r>
              <a:rPr lang="es-ES" sz="1200" dirty="0" err="1"/>
              <a:t>python</a:t>
            </a:r>
            <a:endParaRPr lang="es-ES" sz="1200" dirty="0"/>
          </a:p>
          <a:p>
            <a:endParaRPr lang="es-ES" sz="12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92063E7-F323-8FFD-DC81-FFEF085CE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564904"/>
            <a:ext cx="4718407" cy="2320696"/>
          </a:xfrm>
          <a:prstGeom prst="rect">
            <a:avLst/>
          </a:prstGeom>
        </p:spPr>
      </p:pic>
      <p:sp>
        <p:nvSpPr>
          <p:cNvPr id="3" name="Google Shape;303;g35ee5cc475b_0_63">
            <a:extLst>
              <a:ext uri="{FF2B5EF4-FFF2-40B4-BE49-F238E27FC236}">
                <a16:creationId xmlns:a16="http://schemas.microsoft.com/office/drawing/2014/main" id="{E154591F-8521-5CD9-D44C-55F037C5F4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2. Data </a:t>
            </a:r>
            <a:r>
              <a:rPr lang="es-ES" dirty="0" err="1">
                <a:latin typeface="Montserrat" panose="00000500000000000000" pitchFamily="2" charset="0"/>
              </a:rPr>
              <a:t>Sharing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Databricks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Clean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Rooms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43F0307-816C-5C8D-ED84-F6544A8D3717}"/>
              </a:ext>
            </a:extLst>
          </p:cNvPr>
          <p:cNvSpPr/>
          <p:nvPr/>
        </p:nvSpPr>
        <p:spPr>
          <a:xfrm rot="19823893">
            <a:off x="588084" y="1391469"/>
            <a:ext cx="1944216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PENDIENTE</a:t>
            </a:r>
          </a:p>
        </p:txBody>
      </p:sp>
    </p:spTree>
    <p:extLst>
      <p:ext uri="{BB962C8B-B14F-4D97-AF65-F5344CB8AC3E}">
        <p14:creationId xmlns:p14="http://schemas.microsoft.com/office/powerpoint/2010/main" val="1602172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7131BDE9-3002-385C-8BFC-EBF7C521FB7C}"/>
              </a:ext>
            </a:extLst>
          </p:cNvPr>
          <p:cNvGrpSpPr/>
          <p:nvPr/>
        </p:nvGrpSpPr>
        <p:grpSpPr>
          <a:xfrm>
            <a:off x="120409" y="1960810"/>
            <a:ext cx="1047764" cy="2432430"/>
            <a:chOff x="1331640" y="1700808"/>
            <a:chExt cx="1152540" cy="2943240"/>
          </a:xfrm>
          <a:solidFill>
            <a:schemeClr val="bg1">
              <a:lumMod val="95000"/>
            </a:schemeClr>
          </a:solidFill>
        </p:grpSpPr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C5D09393-82B0-C4EE-7BD3-5A329A5742D1}"/>
                </a:ext>
              </a:extLst>
            </p:cNvPr>
            <p:cNvSpPr/>
            <p:nvPr/>
          </p:nvSpPr>
          <p:spPr>
            <a:xfrm>
              <a:off x="1331640" y="1700808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Billing</a:t>
              </a:r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Usage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81BBB465-BDA1-752E-3869-DEE2235DFFB7}"/>
                </a:ext>
              </a:extLst>
            </p:cNvPr>
            <p:cNvSpPr/>
            <p:nvPr/>
          </p:nvSpPr>
          <p:spPr>
            <a:xfrm>
              <a:off x="1331640" y="2204864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Lineage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5B916EC3-70AE-56D1-3397-CC2FED751B91}"/>
                </a:ext>
              </a:extLst>
            </p:cNvPr>
            <p:cNvSpPr/>
            <p:nvPr/>
          </p:nvSpPr>
          <p:spPr>
            <a:xfrm>
              <a:off x="1332052" y="2706648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Audit Logs</a:t>
              </a:r>
            </a:p>
          </p:txBody>
        </p:sp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01AB1E71-3B3A-637D-BC45-41BFE2A88ACA}"/>
                </a:ext>
              </a:extLst>
            </p:cNvPr>
            <p:cNvSpPr/>
            <p:nvPr/>
          </p:nvSpPr>
          <p:spPr>
            <a:xfrm>
              <a:off x="1331640" y="3208432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Clusters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D3643A44-8F1D-78C4-4C1E-31FCDAC09927}"/>
                </a:ext>
              </a:extLst>
            </p:cNvPr>
            <p:cNvSpPr/>
            <p:nvPr/>
          </p:nvSpPr>
          <p:spPr>
            <a:xfrm>
              <a:off x="1331640" y="3710216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Predictive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Optimization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04587462-F092-CA16-C926-44FA29A349F4}"/>
                </a:ext>
              </a:extLst>
            </p:cNvPr>
            <p:cNvSpPr/>
            <p:nvPr/>
          </p:nvSpPr>
          <p:spPr>
            <a:xfrm>
              <a:off x="1331640" y="4212000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…</a:t>
              </a:r>
            </a:p>
          </p:txBody>
        </p:sp>
      </p:grp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793974BF-0B12-8B0A-B61C-4D58AE757F96}"/>
              </a:ext>
            </a:extLst>
          </p:cNvPr>
          <p:cNvSpPr/>
          <p:nvPr/>
        </p:nvSpPr>
        <p:spPr>
          <a:xfrm>
            <a:off x="1735763" y="2602798"/>
            <a:ext cx="1109848" cy="108308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 err="1">
                <a:solidFill>
                  <a:schemeClr val="tx1"/>
                </a:solidFill>
                <a:latin typeface="Montserrat" panose="00000500000000000000" pitchFamily="2" charset="0"/>
              </a:rPr>
              <a:t>Lakehouse</a:t>
            </a:r>
            <a:endParaRPr lang="es-ES" sz="8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algn="ctr"/>
            <a:r>
              <a:rPr lang="es-ES" sz="800" dirty="0">
                <a:solidFill>
                  <a:schemeClr val="tx1"/>
                </a:solidFill>
                <a:latin typeface="Montserrat" panose="00000500000000000000" pitchFamily="2" charset="0"/>
              </a:rPr>
              <a:t>Pipeline</a:t>
            </a:r>
          </a:p>
          <a:p>
            <a:pPr algn="ctr"/>
            <a:r>
              <a:rPr lang="es-ES" sz="800" dirty="0" err="1">
                <a:solidFill>
                  <a:schemeClr val="tx1"/>
                </a:solidFill>
                <a:latin typeface="Montserrat" panose="00000500000000000000" pitchFamily="2" charset="0"/>
              </a:rPr>
              <a:t>Infrastructure</a:t>
            </a:r>
            <a:endParaRPr lang="es-ES" sz="8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algn="ctr"/>
            <a:endParaRPr lang="es-ES" sz="8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algn="ctr"/>
            <a:r>
              <a:rPr lang="es-ES" sz="800" dirty="0">
                <a:solidFill>
                  <a:schemeClr val="tx1"/>
                </a:solidFill>
                <a:latin typeface="Montserrat" panose="00000500000000000000" pitchFamily="2" charset="0"/>
              </a:rPr>
              <a:t>(run </a:t>
            </a:r>
            <a:r>
              <a:rPr lang="es-ES" sz="800" dirty="0" err="1">
                <a:solidFill>
                  <a:schemeClr val="tx1"/>
                </a:solidFill>
                <a:latin typeface="Montserrat" panose="00000500000000000000" pitchFamily="2" charset="0"/>
              </a:rPr>
              <a:t>by</a:t>
            </a:r>
            <a:r>
              <a:rPr lang="es-ES" sz="800" dirty="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s-ES" sz="800" dirty="0" err="1">
                <a:solidFill>
                  <a:schemeClr val="tx1"/>
                </a:solidFill>
                <a:latin typeface="Montserrat" panose="00000500000000000000" pitchFamily="2" charset="0"/>
              </a:rPr>
              <a:t>Databricks</a:t>
            </a:r>
            <a:r>
              <a:rPr lang="es-ES" sz="800" dirty="0">
                <a:solidFill>
                  <a:schemeClr val="tx1"/>
                </a:solidFill>
                <a:latin typeface="Montserrat" panose="00000500000000000000" pitchFamily="2" charset="0"/>
              </a:rPr>
              <a:t>)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06DF4273-6D7B-1BDE-861A-A3DB9D352BF0}"/>
              </a:ext>
            </a:extLst>
          </p:cNvPr>
          <p:cNvCxnSpPr>
            <a:cxnSpLocks/>
            <a:stCxn id="7" idx="3"/>
            <a:endCxn id="19" idx="1"/>
          </p:cNvCxnSpPr>
          <p:nvPr/>
        </p:nvCxnSpPr>
        <p:spPr>
          <a:xfrm>
            <a:off x="1167798" y="2139342"/>
            <a:ext cx="567965" cy="1004999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0">
            <a:extLst>
              <a:ext uri="{FF2B5EF4-FFF2-40B4-BE49-F238E27FC236}">
                <a16:creationId xmlns:a16="http://schemas.microsoft.com/office/drawing/2014/main" id="{362D27B3-471E-8879-4A08-681B9433FA79}"/>
              </a:ext>
            </a:extLst>
          </p:cNvPr>
          <p:cNvCxnSpPr>
            <a:cxnSpLocks/>
            <a:stCxn id="8" idx="3"/>
            <a:endCxn id="19" idx="1"/>
          </p:cNvCxnSpPr>
          <p:nvPr/>
        </p:nvCxnSpPr>
        <p:spPr>
          <a:xfrm>
            <a:off x="1167798" y="2555917"/>
            <a:ext cx="567965" cy="588424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0">
            <a:extLst>
              <a:ext uri="{FF2B5EF4-FFF2-40B4-BE49-F238E27FC236}">
                <a16:creationId xmlns:a16="http://schemas.microsoft.com/office/drawing/2014/main" id="{927BDA1B-46F3-6E20-5782-7BA65495C22E}"/>
              </a:ext>
            </a:extLst>
          </p:cNvPr>
          <p:cNvCxnSpPr>
            <a:cxnSpLocks/>
            <a:stCxn id="9" idx="3"/>
            <a:endCxn id="19" idx="1"/>
          </p:cNvCxnSpPr>
          <p:nvPr/>
        </p:nvCxnSpPr>
        <p:spPr>
          <a:xfrm>
            <a:off x="1168173" y="2970615"/>
            <a:ext cx="567590" cy="173726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0">
            <a:extLst>
              <a:ext uri="{FF2B5EF4-FFF2-40B4-BE49-F238E27FC236}">
                <a16:creationId xmlns:a16="http://schemas.microsoft.com/office/drawing/2014/main" id="{E98435C7-A122-FCA3-FB80-C41F9BE9E0DD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 flipV="1">
            <a:off x="1167798" y="3144341"/>
            <a:ext cx="567965" cy="24097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20">
            <a:extLst>
              <a:ext uri="{FF2B5EF4-FFF2-40B4-BE49-F238E27FC236}">
                <a16:creationId xmlns:a16="http://schemas.microsoft.com/office/drawing/2014/main" id="{C743EC0C-4B16-E0C1-0E83-2C3D7FC41E67}"/>
              </a:ext>
            </a:extLst>
          </p:cNvPr>
          <p:cNvCxnSpPr>
            <a:cxnSpLocks/>
            <a:stCxn id="11" idx="3"/>
            <a:endCxn id="19" idx="1"/>
          </p:cNvCxnSpPr>
          <p:nvPr/>
        </p:nvCxnSpPr>
        <p:spPr>
          <a:xfrm flipV="1">
            <a:off x="1167798" y="3144341"/>
            <a:ext cx="567965" cy="655669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20">
            <a:extLst>
              <a:ext uri="{FF2B5EF4-FFF2-40B4-BE49-F238E27FC236}">
                <a16:creationId xmlns:a16="http://schemas.microsoft.com/office/drawing/2014/main" id="{F5522E2E-93E2-5299-DF4B-E11DAE834A69}"/>
              </a:ext>
            </a:extLst>
          </p:cNvPr>
          <p:cNvCxnSpPr>
            <a:cxnSpLocks/>
            <a:stCxn id="12" idx="3"/>
            <a:endCxn id="19" idx="1"/>
          </p:cNvCxnSpPr>
          <p:nvPr/>
        </p:nvCxnSpPr>
        <p:spPr>
          <a:xfrm flipV="1">
            <a:off x="1167798" y="3144341"/>
            <a:ext cx="567965" cy="1070367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: angular 69">
            <a:extLst>
              <a:ext uri="{FF2B5EF4-FFF2-40B4-BE49-F238E27FC236}">
                <a16:creationId xmlns:a16="http://schemas.microsoft.com/office/drawing/2014/main" id="{33FB355C-9B21-36B5-4968-2639CF2BB69A}"/>
              </a:ext>
            </a:extLst>
          </p:cNvPr>
          <p:cNvCxnSpPr>
            <a:cxnSpLocks/>
            <a:stCxn id="43" idx="2"/>
            <a:endCxn id="44" idx="1"/>
          </p:cNvCxnSpPr>
          <p:nvPr/>
        </p:nvCxnSpPr>
        <p:spPr>
          <a:xfrm rot="16200000" flipH="1">
            <a:off x="4623811" y="2832140"/>
            <a:ext cx="178824" cy="230965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Google Shape;303;g35ee5cc475b_0_63">
            <a:extLst>
              <a:ext uri="{FF2B5EF4-FFF2-40B4-BE49-F238E27FC236}">
                <a16:creationId xmlns:a16="http://schemas.microsoft.com/office/drawing/2014/main" id="{94988496-8304-DB20-489A-278826FDF0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dirty="0">
                <a:latin typeface="Montserrat" panose="00000500000000000000" pitchFamily="2" charset="0"/>
              </a:rPr>
              <a:t>3.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517F646C-1991-AEAA-F6F0-B048AEDFE8B3}"/>
              </a:ext>
            </a:extLst>
          </p:cNvPr>
          <p:cNvCxnSpPr>
            <a:cxnSpLocks/>
            <a:stCxn id="19" idx="3"/>
            <a:endCxn id="38" idx="1"/>
          </p:cNvCxnSpPr>
          <p:nvPr/>
        </p:nvCxnSpPr>
        <p:spPr>
          <a:xfrm flipV="1">
            <a:off x="2845611" y="3144340"/>
            <a:ext cx="278609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2" name="Grupo 131">
            <a:extLst>
              <a:ext uri="{FF2B5EF4-FFF2-40B4-BE49-F238E27FC236}">
                <a16:creationId xmlns:a16="http://schemas.microsoft.com/office/drawing/2014/main" id="{913A6FA5-922D-897A-9E57-71A4F0BC8AF1}"/>
              </a:ext>
            </a:extLst>
          </p:cNvPr>
          <p:cNvGrpSpPr/>
          <p:nvPr/>
        </p:nvGrpSpPr>
        <p:grpSpPr>
          <a:xfrm>
            <a:off x="3124220" y="1294951"/>
            <a:ext cx="2880319" cy="3698778"/>
            <a:chOff x="3222335" y="1294951"/>
            <a:chExt cx="2880319" cy="3698778"/>
          </a:xfrm>
        </p:grpSpPr>
        <p:grpSp>
          <p:nvGrpSpPr>
            <p:cNvPr id="87" name="Grupo 86">
              <a:extLst>
                <a:ext uri="{FF2B5EF4-FFF2-40B4-BE49-F238E27FC236}">
                  <a16:creationId xmlns:a16="http://schemas.microsoft.com/office/drawing/2014/main" id="{9F9219A4-F94C-BF83-A610-12FC36806ECA}"/>
                </a:ext>
              </a:extLst>
            </p:cNvPr>
            <p:cNvGrpSpPr/>
            <p:nvPr/>
          </p:nvGrpSpPr>
          <p:grpSpPr>
            <a:xfrm>
              <a:off x="3222335" y="1294951"/>
              <a:ext cx="2880319" cy="3698778"/>
              <a:chOff x="3923928" y="1559703"/>
              <a:chExt cx="2880319" cy="3698778"/>
            </a:xfrm>
          </p:grpSpPr>
          <p:sp>
            <p:nvSpPr>
              <p:cNvPr id="38" name="Rectángulo: esquinas redondeadas 37">
                <a:extLst>
                  <a:ext uri="{FF2B5EF4-FFF2-40B4-BE49-F238E27FC236}">
                    <a16:creationId xmlns:a16="http://schemas.microsoft.com/office/drawing/2014/main" id="{FF81977D-A9B6-7240-C644-1FC9841EF643}"/>
                  </a:ext>
                </a:extLst>
              </p:cNvPr>
              <p:cNvSpPr/>
              <p:nvPr/>
            </p:nvSpPr>
            <p:spPr>
              <a:xfrm>
                <a:off x="3923928" y="1559703"/>
                <a:ext cx="2880319" cy="3698778"/>
              </a:xfrm>
              <a:prstGeom prst="roundRect">
                <a:avLst>
                  <a:gd name="adj" fmla="val 81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System</a:t>
                </a:r>
                <a:r>
                  <a:rPr lang="es-ES" sz="80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 Tables</a:t>
                </a:r>
              </a:p>
            </p:txBody>
          </p:sp>
          <p:sp>
            <p:nvSpPr>
              <p:cNvPr id="39" name="Rectángulo: esquinas redondeadas 38">
                <a:extLst>
                  <a:ext uri="{FF2B5EF4-FFF2-40B4-BE49-F238E27FC236}">
                    <a16:creationId xmlns:a16="http://schemas.microsoft.com/office/drawing/2014/main" id="{96DE27CA-0520-A3AE-8956-198A57B68296}"/>
                  </a:ext>
                </a:extLst>
              </p:cNvPr>
              <p:cNvSpPr/>
              <p:nvPr/>
            </p:nvSpPr>
            <p:spPr>
              <a:xfrm>
                <a:off x="3995936" y="1893553"/>
                <a:ext cx="2736304" cy="2903600"/>
              </a:xfrm>
              <a:prstGeom prst="roundRect">
                <a:avLst>
                  <a:gd name="adj" fmla="val 1934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80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UC </a:t>
                </a:r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Metastore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0" name="Rectángulo: esquinas redondeadas 39">
                <a:extLst>
                  <a:ext uri="{FF2B5EF4-FFF2-40B4-BE49-F238E27FC236}">
                    <a16:creationId xmlns:a16="http://schemas.microsoft.com/office/drawing/2014/main" id="{843996FB-86B9-9B1F-20B8-6796E99D7442}"/>
                  </a:ext>
                </a:extLst>
              </p:cNvPr>
              <p:cNvSpPr/>
              <p:nvPr/>
            </p:nvSpPr>
            <p:spPr>
              <a:xfrm>
                <a:off x="4080343" y="2120571"/>
                <a:ext cx="805515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system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1" name="Rectángulo: esquinas redondeadas 40">
                <a:extLst>
                  <a:ext uri="{FF2B5EF4-FFF2-40B4-BE49-F238E27FC236}">
                    <a16:creationId xmlns:a16="http://schemas.microsoft.com/office/drawing/2014/main" id="{EBEFED92-54C4-A50E-20FC-0EA00385AADD}"/>
                  </a:ext>
                </a:extLst>
              </p:cNvPr>
              <p:cNvSpPr/>
              <p:nvPr/>
            </p:nvSpPr>
            <p:spPr>
              <a:xfrm>
                <a:off x="4647041" y="2389509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access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2" name="Rectángulo: esquinas redondeadas 41">
                <a:extLst>
                  <a:ext uri="{FF2B5EF4-FFF2-40B4-BE49-F238E27FC236}">
                    <a16:creationId xmlns:a16="http://schemas.microsoft.com/office/drawing/2014/main" id="{B930C497-3A2B-5DDD-7B27-98F14F640E9E}"/>
                  </a:ext>
                </a:extLst>
              </p:cNvPr>
              <p:cNvSpPr/>
              <p:nvPr/>
            </p:nvSpPr>
            <p:spPr>
              <a:xfrm>
                <a:off x="5628414" y="2664797"/>
                <a:ext cx="1047389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audit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3" name="Rectángulo: esquinas redondeadas 42">
                <a:extLst>
                  <a:ext uri="{FF2B5EF4-FFF2-40B4-BE49-F238E27FC236}">
                    <a16:creationId xmlns:a16="http://schemas.microsoft.com/office/drawing/2014/main" id="{7F582F83-B136-C0ED-DA3D-DB79562E9945}"/>
                  </a:ext>
                </a:extLst>
              </p:cNvPr>
              <p:cNvSpPr/>
              <p:nvPr/>
            </p:nvSpPr>
            <p:spPr>
              <a:xfrm>
                <a:off x="4647041" y="2930034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billing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4" name="Rectángulo: esquinas redondeadas 43">
                <a:extLst>
                  <a:ext uri="{FF2B5EF4-FFF2-40B4-BE49-F238E27FC236}">
                    <a16:creationId xmlns:a16="http://schemas.microsoft.com/office/drawing/2014/main" id="{A1E12A80-7BF6-3689-3ED8-3DD901869A1A}"/>
                  </a:ext>
                </a:extLst>
              </p:cNvPr>
              <p:cNvSpPr/>
              <p:nvPr/>
            </p:nvSpPr>
            <p:spPr>
              <a:xfrm>
                <a:off x="5628414" y="3205322"/>
                <a:ext cx="1047389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usage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5" name="Rectángulo: esquinas redondeadas 44">
                <a:extLst>
                  <a:ext uri="{FF2B5EF4-FFF2-40B4-BE49-F238E27FC236}">
                    <a16:creationId xmlns:a16="http://schemas.microsoft.com/office/drawing/2014/main" id="{5B6AEDAA-0878-BF95-CFB8-BC8674768475}"/>
                  </a:ext>
                </a:extLst>
              </p:cNvPr>
              <p:cNvSpPr/>
              <p:nvPr/>
            </p:nvSpPr>
            <p:spPr>
              <a:xfrm>
                <a:off x="4651109" y="3472593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lineage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6" name="Rectángulo: esquinas redondeadas 45">
                <a:extLst>
                  <a:ext uri="{FF2B5EF4-FFF2-40B4-BE49-F238E27FC236}">
                    <a16:creationId xmlns:a16="http://schemas.microsoft.com/office/drawing/2014/main" id="{9D2073FA-8E33-D2BC-8CFD-362C7BB12643}"/>
                  </a:ext>
                </a:extLst>
              </p:cNvPr>
              <p:cNvSpPr/>
              <p:nvPr/>
            </p:nvSpPr>
            <p:spPr>
              <a:xfrm>
                <a:off x="5632482" y="3747881"/>
                <a:ext cx="1047389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column</a:t>
                </a:r>
                <a:r>
                  <a:rPr lang="es-ES" sz="80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 </a:t>
                </a:r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lineage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7" name="Rectángulo: esquinas redondeadas 46">
                <a:extLst>
                  <a:ext uri="{FF2B5EF4-FFF2-40B4-BE49-F238E27FC236}">
                    <a16:creationId xmlns:a16="http://schemas.microsoft.com/office/drawing/2014/main" id="{0AD936C6-4BF9-E240-3D86-75DE95BD2DE5}"/>
                  </a:ext>
                </a:extLst>
              </p:cNvPr>
              <p:cNvSpPr/>
              <p:nvPr/>
            </p:nvSpPr>
            <p:spPr>
              <a:xfrm>
                <a:off x="5628414" y="4007140"/>
                <a:ext cx="1047389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table </a:t>
                </a:r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lineage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8" name="Rectángulo: esquinas redondeadas 47">
                <a:extLst>
                  <a:ext uri="{FF2B5EF4-FFF2-40B4-BE49-F238E27FC236}">
                    <a16:creationId xmlns:a16="http://schemas.microsoft.com/office/drawing/2014/main" id="{B1EF0CDC-6D4C-5005-1344-A5953803B4BA}"/>
                  </a:ext>
                </a:extLst>
              </p:cNvPr>
              <p:cNvSpPr/>
              <p:nvPr/>
            </p:nvSpPr>
            <p:spPr>
              <a:xfrm>
                <a:off x="4733590" y="4279696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…</a:t>
                </a:r>
              </a:p>
            </p:txBody>
          </p:sp>
          <p:sp>
            <p:nvSpPr>
              <p:cNvPr id="49" name="Rectángulo: esquinas redondeadas 48">
                <a:extLst>
                  <a:ext uri="{FF2B5EF4-FFF2-40B4-BE49-F238E27FC236}">
                    <a16:creationId xmlns:a16="http://schemas.microsoft.com/office/drawing/2014/main" id="{2BC0C46C-90AB-7467-6BD5-78FF19C6F6D4}"/>
                  </a:ext>
                </a:extLst>
              </p:cNvPr>
              <p:cNvSpPr/>
              <p:nvPr/>
            </p:nvSpPr>
            <p:spPr>
              <a:xfrm>
                <a:off x="4755248" y="4545015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Information_schema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cxnSp>
            <p:nvCxnSpPr>
              <p:cNvPr id="53" name="Conector: angular 52">
                <a:extLst>
                  <a:ext uri="{FF2B5EF4-FFF2-40B4-BE49-F238E27FC236}">
                    <a16:creationId xmlns:a16="http://schemas.microsoft.com/office/drawing/2014/main" id="{B4A9E6F0-E2AB-D639-B9D0-D3AC8C876103}"/>
                  </a:ext>
                </a:extLst>
              </p:cNvPr>
              <p:cNvCxnSpPr>
                <a:stCxn id="40" idx="2"/>
                <a:endCxn id="49" idx="1"/>
              </p:cNvCxnSpPr>
              <p:nvPr/>
            </p:nvCxnSpPr>
            <p:spPr>
              <a:xfrm rot="16200000" flipH="1">
                <a:off x="3455184" y="3341416"/>
                <a:ext cx="2327980" cy="272147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ector: angular 53">
                <a:extLst>
                  <a:ext uri="{FF2B5EF4-FFF2-40B4-BE49-F238E27FC236}">
                    <a16:creationId xmlns:a16="http://schemas.microsoft.com/office/drawing/2014/main" id="{30EF4928-BA55-84ED-840F-2BE90C381075}"/>
                  </a:ext>
                </a:extLst>
              </p:cNvPr>
              <p:cNvCxnSpPr>
                <a:cxnSpLocks/>
                <a:endCxn id="48" idx="1"/>
              </p:cNvCxnSpPr>
              <p:nvPr/>
            </p:nvCxnSpPr>
            <p:spPr>
              <a:xfrm rot="16200000" flipH="1">
                <a:off x="3608957" y="3251528"/>
                <a:ext cx="1998776" cy="250490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ector: angular 56">
                <a:extLst>
                  <a:ext uri="{FF2B5EF4-FFF2-40B4-BE49-F238E27FC236}">
                    <a16:creationId xmlns:a16="http://schemas.microsoft.com/office/drawing/2014/main" id="{CDF58035-D50A-97C4-F9DD-EE8D2853E5E1}"/>
                  </a:ext>
                </a:extLst>
              </p:cNvPr>
              <p:cNvCxnSpPr>
                <a:cxnSpLocks/>
                <a:stCxn id="40" idx="2"/>
                <a:endCxn id="45" idx="1"/>
              </p:cNvCxnSpPr>
              <p:nvPr/>
            </p:nvCxnSpPr>
            <p:spPr>
              <a:xfrm rot="16200000" flipH="1">
                <a:off x="3939326" y="2857275"/>
                <a:ext cx="1255558" cy="168008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onector: angular 59">
                <a:extLst>
                  <a:ext uri="{FF2B5EF4-FFF2-40B4-BE49-F238E27FC236}">
                    <a16:creationId xmlns:a16="http://schemas.microsoft.com/office/drawing/2014/main" id="{F9DB5793-166B-4DCF-8B1F-26D18FBB7F66}"/>
                  </a:ext>
                </a:extLst>
              </p:cNvPr>
              <p:cNvCxnSpPr>
                <a:cxnSpLocks/>
                <a:endCxn id="43" idx="1"/>
              </p:cNvCxnSpPr>
              <p:nvPr/>
            </p:nvCxnSpPr>
            <p:spPr>
              <a:xfrm rot="16200000" flipH="1">
                <a:off x="4214632" y="2594090"/>
                <a:ext cx="700876" cy="163942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ector: angular 62">
                <a:extLst>
                  <a:ext uri="{FF2B5EF4-FFF2-40B4-BE49-F238E27FC236}">
                    <a16:creationId xmlns:a16="http://schemas.microsoft.com/office/drawing/2014/main" id="{5EBA256F-2A62-11F5-BE59-950D856AA5F0}"/>
                  </a:ext>
                </a:extLst>
              </p:cNvPr>
              <p:cNvCxnSpPr>
                <a:cxnSpLocks/>
                <a:endCxn id="41" idx="1"/>
              </p:cNvCxnSpPr>
              <p:nvPr/>
            </p:nvCxnSpPr>
            <p:spPr>
              <a:xfrm>
                <a:off x="4483099" y="2325621"/>
                <a:ext cx="163942" cy="160353"/>
              </a:xfrm>
              <a:prstGeom prst="bentConnector3">
                <a:avLst>
                  <a:gd name="adj1" fmla="val -4226"/>
                </a:avLst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ector: angular 66">
                <a:extLst>
                  <a:ext uri="{FF2B5EF4-FFF2-40B4-BE49-F238E27FC236}">
                    <a16:creationId xmlns:a16="http://schemas.microsoft.com/office/drawing/2014/main" id="{E34F4DEE-DA5C-246D-3DE3-49A26B6722CF}"/>
                  </a:ext>
                </a:extLst>
              </p:cNvPr>
              <p:cNvCxnSpPr>
                <a:cxnSpLocks/>
                <a:stCxn id="41" idx="2"/>
                <a:endCxn id="42" idx="1"/>
              </p:cNvCxnSpPr>
              <p:nvPr/>
            </p:nvCxnSpPr>
            <p:spPr>
              <a:xfrm rot="16200000" flipH="1">
                <a:off x="5423519" y="2556367"/>
                <a:ext cx="178824" cy="230965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Conector: angular 73">
                <a:extLst>
                  <a:ext uri="{FF2B5EF4-FFF2-40B4-BE49-F238E27FC236}">
                    <a16:creationId xmlns:a16="http://schemas.microsoft.com/office/drawing/2014/main" id="{2E9CC750-D922-302D-E5E7-8D5AAA16D99E}"/>
                  </a:ext>
                </a:extLst>
              </p:cNvPr>
              <p:cNvCxnSpPr>
                <a:cxnSpLocks/>
                <a:stCxn id="45" idx="2"/>
                <a:endCxn id="46" idx="1"/>
              </p:cNvCxnSpPr>
              <p:nvPr/>
            </p:nvCxnSpPr>
            <p:spPr>
              <a:xfrm rot="16200000" flipH="1">
                <a:off x="5427587" y="3639451"/>
                <a:ext cx="178824" cy="230965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ector: angular 77">
                <a:extLst>
                  <a:ext uri="{FF2B5EF4-FFF2-40B4-BE49-F238E27FC236}">
                    <a16:creationId xmlns:a16="http://schemas.microsoft.com/office/drawing/2014/main" id="{3D3513A1-3107-D0F5-3C27-C7B9882B2ADD}"/>
                  </a:ext>
                </a:extLst>
              </p:cNvPr>
              <p:cNvCxnSpPr>
                <a:cxnSpLocks/>
                <a:stCxn id="45" idx="2"/>
                <a:endCxn id="47" idx="1"/>
              </p:cNvCxnSpPr>
              <p:nvPr/>
            </p:nvCxnSpPr>
            <p:spPr>
              <a:xfrm rot="16200000" flipH="1">
                <a:off x="5295924" y="3771114"/>
                <a:ext cx="438083" cy="226897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Rectángulo: esquinas redondeadas 91">
              <a:extLst>
                <a:ext uri="{FF2B5EF4-FFF2-40B4-BE49-F238E27FC236}">
                  <a16:creationId xmlns:a16="http://schemas.microsoft.com/office/drawing/2014/main" id="{2E795C17-092F-67C4-6544-1235D36CD475}"/>
                </a:ext>
              </a:extLst>
            </p:cNvPr>
            <p:cNvSpPr/>
            <p:nvPr/>
          </p:nvSpPr>
          <p:spPr>
            <a:xfrm>
              <a:off x="3294343" y="4574981"/>
              <a:ext cx="2736304" cy="314133"/>
            </a:xfrm>
            <a:prstGeom prst="roundRect">
              <a:avLst>
                <a:gd name="adj" fmla="val 1891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Delta Tables</a:t>
              </a:r>
            </a:p>
            <a:p>
              <a:pPr algn="ctr"/>
              <a:r>
                <a:rPr lang="es-ES" sz="6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(</a:t>
              </a:r>
              <a:r>
                <a:rPr lang="es-ES" sz="6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stored</a:t>
              </a:r>
              <a:r>
                <a:rPr lang="es-ES" sz="6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in </a:t>
              </a:r>
              <a:r>
                <a:rPr lang="es-ES" sz="6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Databricks</a:t>
              </a:r>
              <a:r>
                <a:rPr lang="es-ES" sz="6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6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account</a:t>
              </a:r>
              <a:r>
                <a:rPr lang="es-ES" sz="6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)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93" name="Imagen 92" descr="Icono&#10;&#10;El contenido generado por IA puede ser incorrecto.">
              <a:extLst>
                <a:ext uri="{FF2B5EF4-FFF2-40B4-BE49-F238E27FC236}">
                  <a16:creationId xmlns:a16="http://schemas.microsoft.com/office/drawing/2014/main" id="{870039A8-0EB2-793B-5BF0-A8556CF6A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8750" y="4643250"/>
              <a:ext cx="209673" cy="177593"/>
            </a:xfrm>
            <a:prstGeom prst="rect">
              <a:avLst/>
            </a:prstGeom>
            <a:solidFill>
              <a:srgbClr val="F2F2F2"/>
            </a:solidFill>
          </p:spPr>
        </p:pic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EBDFDE5E-A920-3070-BFEB-87B1AFD3660E}"/>
              </a:ext>
            </a:extLst>
          </p:cNvPr>
          <p:cNvGrpSpPr/>
          <p:nvPr/>
        </p:nvGrpSpPr>
        <p:grpSpPr>
          <a:xfrm>
            <a:off x="6444208" y="2114285"/>
            <a:ext cx="892416" cy="2192797"/>
            <a:chOff x="6847936" y="1291772"/>
            <a:chExt cx="892416" cy="2192797"/>
          </a:xfrm>
        </p:grpSpPr>
        <p:sp>
          <p:nvSpPr>
            <p:cNvPr id="94" name="Rectángulo: esquinas redondeadas 93">
              <a:extLst>
                <a:ext uri="{FF2B5EF4-FFF2-40B4-BE49-F238E27FC236}">
                  <a16:creationId xmlns:a16="http://schemas.microsoft.com/office/drawing/2014/main" id="{FF704EF1-32A8-9F48-1CEE-E0354582D068}"/>
                </a:ext>
              </a:extLst>
            </p:cNvPr>
            <p:cNvSpPr/>
            <p:nvPr/>
          </p:nvSpPr>
          <p:spPr>
            <a:xfrm>
              <a:off x="6847936" y="1291772"/>
              <a:ext cx="892416" cy="460463"/>
            </a:xfrm>
            <a:prstGeom prst="roundRect">
              <a:avLst>
                <a:gd name="adj" fmla="val 92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Lakehouse</a:t>
              </a:r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AI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or</a:t>
              </a:r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BI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tools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5" name="Rectángulo: esquinas redondeadas 94">
              <a:extLst>
                <a:ext uri="{FF2B5EF4-FFF2-40B4-BE49-F238E27FC236}">
                  <a16:creationId xmlns:a16="http://schemas.microsoft.com/office/drawing/2014/main" id="{7BD9BA66-FCC8-05D7-3D71-BDFA391618EB}"/>
                </a:ext>
              </a:extLst>
            </p:cNvPr>
            <p:cNvSpPr/>
            <p:nvPr/>
          </p:nvSpPr>
          <p:spPr>
            <a:xfrm>
              <a:off x="6847936" y="1865644"/>
              <a:ext cx="892416" cy="460463"/>
            </a:xfrm>
            <a:prstGeom prst="roundRect">
              <a:avLst>
                <a:gd name="adj" fmla="val 92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Dashboards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6" name="Rectángulo: esquinas redondeadas 95">
              <a:extLst>
                <a:ext uri="{FF2B5EF4-FFF2-40B4-BE49-F238E27FC236}">
                  <a16:creationId xmlns:a16="http://schemas.microsoft.com/office/drawing/2014/main" id="{6C584A4B-055C-F95B-0478-32BB849B330F}"/>
                </a:ext>
              </a:extLst>
            </p:cNvPr>
            <p:cNvSpPr/>
            <p:nvPr/>
          </p:nvSpPr>
          <p:spPr>
            <a:xfrm>
              <a:off x="6847936" y="2444875"/>
              <a:ext cx="892416" cy="460463"/>
            </a:xfrm>
            <a:prstGeom prst="roundRect">
              <a:avLst>
                <a:gd name="adj" fmla="val 92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Exploratory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Analysis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7" name="Rectángulo: esquinas redondeadas 96">
              <a:extLst>
                <a:ext uri="{FF2B5EF4-FFF2-40B4-BE49-F238E27FC236}">
                  <a16:creationId xmlns:a16="http://schemas.microsoft.com/office/drawing/2014/main" id="{F96EB196-F954-4F59-72C3-5EC8B4185E16}"/>
                </a:ext>
              </a:extLst>
            </p:cNvPr>
            <p:cNvSpPr/>
            <p:nvPr/>
          </p:nvSpPr>
          <p:spPr>
            <a:xfrm>
              <a:off x="6847936" y="3024106"/>
              <a:ext cx="892416" cy="460463"/>
            </a:xfrm>
            <a:prstGeom prst="roundRect">
              <a:avLst>
                <a:gd name="adj" fmla="val 92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3rd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party</a:t>
              </a:r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tools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</p:grpSp>
      <p:cxnSp>
        <p:nvCxnSpPr>
          <p:cNvPr id="99" name="Conector recto de flecha 20">
            <a:extLst>
              <a:ext uri="{FF2B5EF4-FFF2-40B4-BE49-F238E27FC236}">
                <a16:creationId xmlns:a16="http://schemas.microsoft.com/office/drawing/2014/main" id="{497B0218-A6EE-5626-8C33-8D8A6D3B8501}"/>
              </a:ext>
            </a:extLst>
          </p:cNvPr>
          <p:cNvCxnSpPr>
            <a:cxnSpLocks/>
            <a:stCxn id="94" idx="1"/>
            <a:endCxn id="38" idx="3"/>
          </p:cNvCxnSpPr>
          <p:nvPr/>
        </p:nvCxnSpPr>
        <p:spPr>
          <a:xfrm rot="10800000" flipV="1">
            <a:off x="6004540" y="2344516"/>
            <a:ext cx="439669" cy="799823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cto de flecha 20">
            <a:extLst>
              <a:ext uri="{FF2B5EF4-FFF2-40B4-BE49-F238E27FC236}">
                <a16:creationId xmlns:a16="http://schemas.microsoft.com/office/drawing/2014/main" id="{CB6B495D-48FB-313C-4B8B-A0E37E381EC6}"/>
              </a:ext>
            </a:extLst>
          </p:cNvPr>
          <p:cNvCxnSpPr>
            <a:cxnSpLocks/>
            <a:stCxn id="95" idx="1"/>
            <a:endCxn id="38" idx="3"/>
          </p:cNvCxnSpPr>
          <p:nvPr/>
        </p:nvCxnSpPr>
        <p:spPr>
          <a:xfrm rot="10800000" flipV="1">
            <a:off x="6004540" y="2918388"/>
            <a:ext cx="439669" cy="22595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de flecha 20">
            <a:extLst>
              <a:ext uri="{FF2B5EF4-FFF2-40B4-BE49-F238E27FC236}">
                <a16:creationId xmlns:a16="http://schemas.microsoft.com/office/drawing/2014/main" id="{1AF67B2A-5F2B-EEC0-7FBC-802B7D249092}"/>
              </a:ext>
            </a:extLst>
          </p:cNvPr>
          <p:cNvCxnSpPr>
            <a:cxnSpLocks/>
            <a:stCxn id="96" idx="1"/>
            <a:endCxn id="38" idx="3"/>
          </p:cNvCxnSpPr>
          <p:nvPr/>
        </p:nvCxnSpPr>
        <p:spPr>
          <a:xfrm rot="10800000">
            <a:off x="6004540" y="3144340"/>
            <a:ext cx="439669" cy="353280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de flecha 20">
            <a:extLst>
              <a:ext uri="{FF2B5EF4-FFF2-40B4-BE49-F238E27FC236}">
                <a16:creationId xmlns:a16="http://schemas.microsoft.com/office/drawing/2014/main" id="{79503E21-3E0D-CE26-E771-908E02F5ED09}"/>
              </a:ext>
            </a:extLst>
          </p:cNvPr>
          <p:cNvCxnSpPr>
            <a:cxnSpLocks/>
            <a:stCxn id="97" idx="1"/>
            <a:endCxn id="38" idx="3"/>
          </p:cNvCxnSpPr>
          <p:nvPr/>
        </p:nvCxnSpPr>
        <p:spPr>
          <a:xfrm rot="10800000">
            <a:off x="6004540" y="3144341"/>
            <a:ext cx="439669" cy="93251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461016F3-184F-2B2B-727F-930F294F7B2C}"/>
              </a:ext>
            </a:extLst>
          </p:cNvPr>
          <p:cNvGrpSpPr/>
          <p:nvPr/>
        </p:nvGrpSpPr>
        <p:grpSpPr>
          <a:xfrm>
            <a:off x="7596336" y="2947622"/>
            <a:ext cx="1239165" cy="698413"/>
            <a:chOff x="7401841" y="3012858"/>
            <a:chExt cx="1239165" cy="698413"/>
          </a:xfrm>
        </p:grpSpPr>
        <p:grpSp>
          <p:nvGrpSpPr>
            <p:cNvPr id="141" name="Grupo 140">
              <a:extLst>
                <a:ext uri="{FF2B5EF4-FFF2-40B4-BE49-F238E27FC236}">
                  <a16:creationId xmlns:a16="http://schemas.microsoft.com/office/drawing/2014/main" id="{FA99D6FB-FEC2-262C-59C7-C887046A97E0}"/>
                </a:ext>
              </a:extLst>
            </p:cNvPr>
            <p:cNvGrpSpPr/>
            <p:nvPr/>
          </p:nvGrpSpPr>
          <p:grpSpPr>
            <a:xfrm>
              <a:off x="7401841" y="3012858"/>
              <a:ext cx="1239165" cy="698413"/>
              <a:chOff x="7419820" y="3012192"/>
              <a:chExt cx="1239165" cy="698413"/>
            </a:xfrm>
          </p:grpSpPr>
          <p:pic>
            <p:nvPicPr>
              <p:cNvPr id="134" name="Imagen 133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027E3344-4A31-2580-B62A-21226D99DE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19820" y="3172484"/>
                <a:ext cx="524728" cy="524728"/>
              </a:xfrm>
              <a:prstGeom prst="rect">
                <a:avLst/>
              </a:prstGeom>
            </p:spPr>
          </p:pic>
          <p:pic>
            <p:nvPicPr>
              <p:cNvPr id="138" name="Imagen 137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29B23CA0-F884-D933-6D9E-BC428807D2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71715" y="3395778"/>
                <a:ext cx="287270" cy="287270"/>
              </a:xfrm>
              <a:prstGeom prst="rect">
                <a:avLst/>
              </a:prstGeom>
            </p:spPr>
          </p:pic>
          <p:pic>
            <p:nvPicPr>
              <p:cNvPr id="139" name="Imagen 138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22A15496-1FA1-EAFF-2409-0BA22785DB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61267" y="3012192"/>
                <a:ext cx="698413" cy="698413"/>
              </a:xfrm>
              <a:prstGeom prst="rect">
                <a:avLst/>
              </a:prstGeom>
            </p:spPr>
          </p:pic>
        </p:grpSp>
        <p:pic>
          <p:nvPicPr>
            <p:cNvPr id="140" name="Imagen 139" descr="Forma&#10;&#10;El contenido generado por IA puede ser incorrecto.">
              <a:extLst>
                <a:ext uri="{FF2B5EF4-FFF2-40B4-BE49-F238E27FC236}">
                  <a16:creationId xmlns:a16="http://schemas.microsoft.com/office/drawing/2014/main" id="{28B1CE94-D688-5A42-AECC-E034AD39F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6425" y="3173150"/>
              <a:ext cx="524728" cy="524728"/>
            </a:xfrm>
            <a:prstGeom prst="rect">
              <a:avLst/>
            </a:prstGeom>
          </p:spPr>
        </p:pic>
      </p:grpSp>
      <p:sp>
        <p:nvSpPr>
          <p:cNvPr id="143" name="CuadroTexto 142">
            <a:extLst>
              <a:ext uri="{FF2B5EF4-FFF2-40B4-BE49-F238E27FC236}">
                <a16:creationId xmlns:a16="http://schemas.microsoft.com/office/drawing/2014/main" id="{ACE23D35-A303-7D21-F9A0-7BD6CBF036BB}"/>
              </a:ext>
            </a:extLst>
          </p:cNvPr>
          <p:cNvSpPr txBox="1"/>
          <p:nvPr/>
        </p:nvSpPr>
        <p:spPr>
          <a:xfrm>
            <a:off x="7712339" y="3659337"/>
            <a:ext cx="10557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 err="1">
                <a:latin typeface="Montserrat" panose="00000500000000000000" pitchFamily="2" charset="0"/>
              </a:rPr>
              <a:t>User</a:t>
            </a:r>
            <a:r>
              <a:rPr lang="es-ES" sz="900" dirty="0">
                <a:latin typeface="Montserrat" panose="00000500000000000000" pitchFamily="2" charset="0"/>
              </a:rPr>
              <a:t> / </a:t>
            </a:r>
            <a:r>
              <a:rPr lang="es-ES" sz="900" dirty="0" err="1">
                <a:latin typeface="Montserrat" panose="00000500000000000000" pitchFamily="2" charset="0"/>
              </a:rPr>
              <a:t>amins</a:t>
            </a:r>
            <a:endParaRPr lang="es-ES" sz="900" dirty="0">
              <a:latin typeface="Montserrat" panose="00000500000000000000" pitchFamily="2" charset="0"/>
            </a:endParaRPr>
          </a:p>
        </p:txBody>
      </p:sp>
      <p:cxnSp>
        <p:nvCxnSpPr>
          <p:cNvPr id="144" name="Conector recto de flecha 20">
            <a:extLst>
              <a:ext uri="{FF2B5EF4-FFF2-40B4-BE49-F238E27FC236}">
                <a16:creationId xmlns:a16="http://schemas.microsoft.com/office/drawing/2014/main" id="{525B5330-21F4-60A5-F657-183ABDFC323D}"/>
              </a:ext>
            </a:extLst>
          </p:cNvPr>
          <p:cNvCxnSpPr>
            <a:cxnSpLocks/>
            <a:stCxn id="134" idx="1"/>
            <a:endCxn id="94" idx="3"/>
          </p:cNvCxnSpPr>
          <p:nvPr/>
        </p:nvCxnSpPr>
        <p:spPr>
          <a:xfrm rot="10800000">
            <a:off x="7336624" y="2344518"/>
            <a:ext cx="259712" cy="102576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ector recto de flecha 20">
            <a:extLst>
              <a:ext uri="{FF2B5EF4-FFF2-40B4-BE49-F238E27FC236}">
                <a16:creationId xmlns:a16="http://schemas.microsoft.com/office/drawing/2014/main" id="{6CA6F7E5-AB01-7850-F705-7BF09F91141E}"/>
              </a:ext>
            </a:extLst>
          </p:cNvPr>
          <p:cNvCxnSpPr>
            <a:cxnSpLocks/>
            <a:stCxn id="134" idx="1"/>
            <a:endCxn id="95" idx="3"/>
          </p:cNvCxnSpPr>
          <p:nvPr/>
        </p:nvCxnSpPr>
        <p:spPr>
          <a:xfrm rot="10800000">
            <a:off x="7336624" y="2918390"/>
            <a:ext cx="259712" cy="451889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ector recto de flecha 20">
            <a:extLst>
              <a:ext uri="{FF2B5EF4-FFF2-40B4-BE49-F238E27FC236}">
                <a16:creationId xmlns:a16="http://schemas.microsoft.com/office/drawing/2014/main" id="{54F87F9C-F559-C859-B357-C4EDC3D81C1C}"/>
              </a:ext>
            </a:extLst>
          </p:cNvPr>
          <p:cNvCxnSpPr>
            <a:cxnSpLocks/>
            <a:stCxn id="134" idx="1"/>
            <a:endCxn id="96" idx="3"/>
          </p:cNvCxnSpPr>
          <p:nvPr/>
        </p:nvCxnSpPr>
        <p:spPr>
          <a:xfrm rot="10800000" flipV="1">
            <a:off x="7336624" y="3370278"/>
            <a:ext cx="259712" cy="127342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recto de flecha 20">
            <a:extLst>
              <a:ext uri="{FF2B5EF4-FFF2-40B4-BE49-F238E27FC236}">
                <a16:creationId xmlns:a16="http://schemas.microsoft.com/office/drawing/2014/main" id="{0B759943-96C8-9FED-9444-5BCEFAF85AA1}"/>
              </a:ext>
            </a:extLst>
          </p:cNvPr>
          <p:cNvCxnSpPr>
            <a:cxnSpLocks/>
            <a:stCxn id="134" idx="1"/>
            <a:endCxn id="97" idx="3"/>
          </p:cNvCxnSpPr>
          <p:nvPr/>
        </p:nvCxnSpPr>
        <p:spPr>
          <a:xfrm rot="10800000" flipV="1">
            <a:off x="7336624" y="3370277"/>
            <a:ext cx="259712" cy="706573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987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E72D9-9C3A-70D9-34E6-BBBF9758A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D0D013-7770-B0D7-6715-6B22B6AF4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734" y="1275667"/>
            <a:ext cx="6264696" cy="426485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400" dirty="0">
                <a:latin typeface="Montserrat" panose="00000500000000000000" pitchFamily="2" charset="0"/>
              </a:rPr>
              <a:t>Responde preguntas sobre el estado de objetos</a:t>
            </a:r>
          </a:p>
        </p:txBody>
      </p:sp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7F62472F-83F8-11DE-589C-A5E284CAA9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Tables: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Objects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Metadata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83EA4EE-F7BE-82E0-2D8D-D3FB3D3D032D}"/>
              </a:ext>
            </a:extLst>
          </p:cNvPr>
          <p:cNvSpPr txBox="1"/>
          <p:nvPr/>
        </p:nvSpPr>
        <p:spPr>
          <a:xfrm>
            <a:off x="628650" y="2708920"/>
            <a:ext cx="3888432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system.information_schema.</a:t>
            </a:r>
            <a:r>
              <a:rPr lang="es-ES" sz="1000" dirty="0" err="1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tables</a:t>
            </a:r>
            <a:endParaRPr lang="es-E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table_catalog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=“sales”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table_schema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!=“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information_schema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”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2D3725-0DAF-F172-BB18-BB87D50A7993}"/>
              </a:ext>
            </a:extLst>
          </p:cNvPr>
          <p:cNvSpPr txBox="1"/>
          <p:nvPr/>
        </p:nvSpPr>
        <p:spPr>
          <a:xfrm>
            <a:off x="634380" y="4117141"/>
            <a:ext cx="3888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grantee,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privilege_type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system.information_schema.table_privileges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login_data_silver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'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08F4AC5-09E9-1802-00A0-ABB4C5ED7928}"/>
              </a:ext>
            </a:extLst>
          </p:cNvPr>
          <p:cNvSpPr txBox="1"/>
          <p:nvPr/>
        </p:nvSpPr>
        <p:spPr>
          <a:xfrm>
            <a:off x="5076056" y="2708919"/>
            <a:ext cx="3888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table_name,last_altered_by,last_altered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system.information_schema.</a:t>
            </a:r>
            <a:r>
              <a:rPr lang="en-US" sz="1000" dirty="0" err="1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tables</a:t>
            </a:r>
            <a:endParaRPr lang="en-U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table_schema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="layer30_silver"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1,3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DESC;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171142D-F626-7F1F-06D3-0C63F671D376}"/>
              </a:ext>
            </a:extLst>
          </p:cNvPr>
          <p:cNvSpPr txBox="1"/>
          <p:nvPr/>
        </p:nvSpPr>
        <p:spPr>
          <a:xfrm>
            <a:off x="5076056" y="4293096"/>
            <a:ext cx="4067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table_owner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system.information_schema.tables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table_catalog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="sesion1_2"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table_schema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="layer30_silver“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="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dim_aircraft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4E59AAF8-7910-C494-9118-226F3D5E6140}"/>
              </a:ext>
            </a:extLst>
          </p:cNvPr>
          <p:cNvSpPr txBox="1">
            <a:spLocks/>
          </p:cNvSpPr>
          <p:nvPr/>
        </p:nvSpPr>
        <p:spPr>
          <a:xfrm>
            <a:off x="628650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¿Que tablas hay dentro del Catalogo Sales?</a:t>
            </a: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641C3B69-3A36-5EC6-13E8-D6ED6B3A59AF}"/>
              </a:ext>
            </a:extLst>
          </p:cNvPr>
          <p:cNvSpPr txBox="1">
            <a:spLocks/>
          </p:cNvSpPr>
          <p:nvPr/>
        </p:nvSpPr>
        <p:spPr>
          <a:xfrm>
            <a:off x="5076056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hizo la ultima actualización de las tablas en plata y cuando?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9527D2E9-841C-270F-5186-409F0EB8C39F}"/>
              </a:ext>
            </a:extLst>
          </p:cNvPr>
          <p:cNvSpPr txBox="1">
            <a:spLocks/>
          </p:cNvSpPr>
          <p:nvPr/>
        </p:nvSpPr>
        <p:spPr>
          <a:xfrm>
            <a:off x="628650" y="3987662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tiene acceso a esta tabla?</a:t>
            </a:r>
          </a:p>
        </p:txBody>
      </p:sp>
      <p:sp>
        <p:nvSpPr>
          <p:cNvPr id="13" name="Marcador de contenido 3">
            <a:extLst>
              <a:ext uri="{FF2B5EF4-FFF2-40B4-BE49-F238E27FC236}">
                <a16:creationId xmlns:a16="http://schemas.microsoft.com/office/drawing/2014/main" id="{D7A5AB07-203F-0437-32E0-ED263A5603C8}"/>
              </a:ext>
            </a:extLst>
          </p:cNvPr>
          <p:cNvSpPr txBox="1">
            <a:spLocks/>
          </p:cNvSpPr>
          <p:nvPr/>
        </p:nvSpPr>
        <p:spPr>
          <a:xfrm>
            <a:off x="5076056" y="3982677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es el </a:t>
            </a:r>
            <a:r>
              <a:rPr lang="es-ES" sz="1200" b="1" dirty="0" err="1">
                <a:latin typeface="Montserrat" panose="00000500000000000000" pitchFamily="2" charset="0"/>
              </a:rPr>
              <a:t>owner</a:t>
            </a:r>
            <a:r>
              <a:rPr lang="es-ES" sz="1200" b="1" dirty="0">
                <a:latin typeface="Montserrat" panose="00000500000000000000" pitchFamily="2" charset="0"/>
              </a:rPr>
              <a:t> de esta tabla?</a:t>
            </a:r>
          </a:p>
        </p:txBody>
      </p:sp>
      <p:sp>
        <p:nvSpPr>
          <p:cNvPr id="10" name="Estrella: 5 puntas 9">
            <a:extLst>
              <a:ext uri="{FF2B5EF4-FFF2-40B4-BE49-F238E27FC236}">
                <a16:creationId xmlns:a16="http://schemas.microsoft.com/office/drawing/2014/main" id="{CEB6E2E6-B6EE-3248-B17B-F7BBDF0920DA}"/>
              </a:ext>
            </a:extLst>
          </p:cNvPr>
          <p:cNvSpPr/>
          <p:nvPr/>
        </p:nvSpPr>
        <p:spPr>
          <a:xfrm>
            <a:off x="4911171" y="2184482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strella: 5 puntas 10">
            <a:extLst>
              <a:ext uri="{FF2B5EF4-FFF2-40B4-BE49-F238E27FC236}">
                <a16:creationId xmlns:a16="http://schemas.microsoft.com/office/drawing/2014/main" id="{0D8E32FE-5128-C7B0-A204-D21FBCE6EA67}"/>
              </a:ext>
            </a:extLst>
          </p:cNvPr>
          <p:cNvSpPr/>
          <p:nvPr/>
        </p:nvSpPr>
        <p:spPr>
          <a:xfrm>
            <a:off x="468647" y="2174810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5251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347D3-948F-CEE1-5910-C17378583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679B8D-F7A6-2935-20D7-0DE811997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734" y="1275667"/>
            <a:ext cx="6264696" cy="426485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400" dirty="0">
                <a:latin typeface="Montserrat" panose="00000500000000000000" pitchFamily="2" charset="0"/>
              </a:rPr>
              <a:t>Casi en tiempo real, observa quien accede a qué y cuando</a:t>
            </a:r>
          </a:p>
        </p:txBody>
      </p:sp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BD89991C-1001-C88C-0E95-875EB74BB2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Tables: Audit Logs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1BB5BFA-0C86-6828-9FAF-A7069E40DC8B}"/>
              </a:ext>
            </a:extLst>
          </p:cNvPr>
          <p:cNvSpPr txBox="1"/>
          <p:nvPr/>
        </p:nvSpPr>
        <p:spPr>
          <a:xfrm>
            <a:off x="628650" y="2708920"/>
            <a:ext cx="40153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count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(*)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request_params.table_full_name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“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dim_aircraft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action_name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generateTemporaryTableCredential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ORDER BY 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</a:t>
            </a:r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 LIMIT 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;</a:t>
            </a:r>
            <a:endParaRPr lang="es-E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3060EC0-42F7-404B-C4B1-8A6E495A49BB}"/>
              </a:ext>
            </a:extLst>
          </p:cNvPr>
          <p:cNvSpPr txBox="1"/>
          <p:nvPr/>
        </p:nvSpPr>
        <p:spPr>
          <a:xfrm>
            <a:off x="628650" y="4503557"/>
            <a:ext cx="38884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event_time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AS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event_time_local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action_name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"251008j@gmail.com"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event_date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&gt;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current_date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- INTERVAL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DAY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event_time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DESC;</a:t>
            </a:r>
            <a:endParaRPr lang="es-E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0AEBC0E-A061-CF62-08A9-3499E7CF04C6}"/>
              </a:ext>
            </a:extLst>
          </p:cNvPr>
          <p:cNvSpPr txBox="1"/>
          <p:nvPr/>
        </p:nvSpPr>
        <p:spPr>
          <a:xfrm>
            <a:off x="5076056" y="2708919"/>
            <a:ext cx="38884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request_params.full_name_arg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“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dim_aircraft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action_name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deleteTable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3EF70EA-C25D-BB57-29E9-F53A434933C0}"/>
              </a:ext>
            </a:extLst>
          </p:cNvPr>
          <p:cNvSpPr txBox="1"/>
          <p:nvPr/>
        </p:nvSpPr>
        <p:spPr>
          <a:xfrm>
            <a:off x="5076056" y="4503557"/>
            <a:ext cx="40679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request_params.table_full_name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count(*)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“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"251008@gmail.com"</a:t>
            </a:r>
            <a:endParaRPr lang="en-U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 LIMIT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10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;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1101D260-FA90-59D2-1377-04C5E8814245}"/>
              </a:ext>
            </a:extLst>
          </p:cNvPr>
          <p:cNvSpPr txBox="1">
            <a:spLocks/>
          </p:cNvSpPr>
          <p:nvPr/>
        </p:nvSpPr>
        <p:spPr>
          <a:xfrm>
            <a:off x="628650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accede a esta tabla con más frecuencia?</a:t>
            </a: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4BB62260-1E3C-4272-5909-DF1707ACB8EB}"/>
              </a:ext>
            </a:extLst>
          </p:cNvPr>
          <p:cNvSpPr txBox="1">
            <a:spLocks/>
          </p:cNvSpPr>
          <p:nvPr/>
        </p:nvSpPr>
        <p:spPr>
          <a:xfrm>
            <a:off x="5076056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borro esta Tabla?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6742D4DC-6A7A-30F7-BC72-6388208BE688}"/>
              </a:ext>
            </a:extLst>
          </p:cNvPr>
          <p:cNvSpPr txBox="1">
            <a:spLocks/>
          </p:cNvSpPr>
          <p:nvPr/>
        </p:nvSpPr>
        <p:spPr>
          <a:xfrm>
            <a:off x="628650" y="4077072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¿A qué ha accedido este usuario en las ultimas 24h?</a:t>
            </a:r>
          </a:p>
        </p:txBody>
      </p:sp>
      <p:sp>
        <p:nvSpPr>
          <p:cNvPr id="13" name="Marcador de contenido 3">
            <a:extLst>
              <a:ext uri="{FF2B5EF4-FFF2-40B4-BE49-F238E27FC236}">
                <a16:creationId xmlns:a16="http://schemas.microsoft.com/office/drawing/2014/main" id="{1DD20986-03E7-31D8-3E61-D750F871D3C1}"/>
              </a:ext>
            </a:extLst>
          </p:cNvPr>
          <p:cNvSpPr txBox="1">
            <a:spLocks/>
          </p:cNvSpPr>
          <p:nvPr/>
        </p:nvSpPr>
        <p:spPr>
          <a:xfrm>
            <a:off x="5076056" y="4077072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tablas accede el usuario con más </a:t>
            </a:r>
            <a:r>
              <a:rPr lang="es-ES" sz="1200" b="1" dirty="0" err="1">
                <a:latin typeface="Montserrat" panose="00000500000000000000" pitchFamily="2" charset="0"/>
              </a:rPr>
              <a:t>frecuncia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3" name="Estrella: 5 puntas 2">
            <a:extLst>
              <a:ext uri="{FF2B5EF4-FFF2-40B4-BE49-F238E27FC236}">
                <a16:creationId xmlns:a16="http://schemas.microsoft.com/office/drawing/2014/main" id="{8873ED76-8EB7-8498-5A95-DCA4D2E7DB75}"/>
              </a:ext>
            </a:extLst>
          </p:cNvPr>
          <p:cNvSpPr/>
          <p:nvPr/>
        </p:nvSpPr>
        <p:spPr>
          <a:xfrm>
            <a:off x="440814" y="2184482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6355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CF818-5F2F-10B2-AA6E-1E98ECFDA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C9E7A5-85D6-5831-A757-9D13C7AD9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734" y="1275667"/>
            <a:ext cx="6264696" cy="426485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400" dirty="0">
                <a:latin typeface="Montserrat" panose="00000500000000000000" pitchFamily="2" charset="0"/>
              </a:rPr>
              <a:t>Entiende el coste a lo largo de la </a:t>
            </a:r>
            <a:r>
              <a:rPr lang="es-ES" sz="1400" dirty="0" err="1">
                <a:latin typeface="Montserrat" panose="00000500000000000000" pitchFamily="2" charset="0"/>
              </a:rPr>
              <a:t>organizacion</a:t>
            </a:r>
            <a:endParaRPr lang="es-ES" sz="1400" dirty="0">
              <a:latin typeface="Montserrat" panose="00000500000000000000" pitchFamily="2" charset="0"/>
            </a:endParaRPr>
          </a:p>
        </p:txBody>
      </p:sp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162F8B12-0714-00FA-A2FC-7B9D6288CD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Tables: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Billing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Logs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36FC5AD-9C34-7E09-62F2-D0175FBAED37}"/>
              </a:ext>
            </a:extLst>
          </p:cNvPr>
          <p:cNvSpPr txBox="1"/>
          <p:nvPr/>
        </p:nvSpPr>
        <p:spPr>
          <a:xfrm>
            <a:off x="628650" y="2622549"/>
            <a:ext cx="40153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DATE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usage_start_time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AS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usage_date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SUM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usage_quantity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dbus_consumed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system.billing.usage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usage_unit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'DBU'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DATE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usage_start_time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usage_date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ASC;</a:t>
            </a:r>
            <a:endParaRPr lang="es-E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8FA271-193B-0355-F5EC-0D8C26699F5E}"/>
              </a:ext>
            </a:extLst>
          </p:cNvPr>
          <p:cNvSpPr txBox="1"/>
          <p:nvPr/>
        </p:nvSpPr>
        <p:spPr>
          <a:xfrm>
            <a:off x="620060" y="4641884"/>
            <a:ext cx="38884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CAST(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usage_metadata.job_id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AS STRING)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`Job ID`,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SUM(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usage_quantity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system.billing.usage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usage_unit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'DBU'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usage_metadata.job_id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IS NOT NULL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CAST(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usage_metadata.job_id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STRING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DESC;</a:t>
            </a:r>
            <a:endParaRPr lang="es-E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5852BE6-FE2E-EB7C-5F0E-6552A41AC851}"/>
              </a:ext>
            </a:extLst>
          </p:cNvPr>
          <p:cNvSpPr txBox="1"/>
          <p:nvPr/>
        </p:nvSpPr>
        <p:spPr>
          <a:xfrm>
            <a:off x="5076056" y="2622549"/>
            <a:ext cx="38884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COALESCE(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custom_tags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['Creator']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custom_tags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['Owner'], 'unknown')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User,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SUM(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usage_quantity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system.billing.usage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usage_unit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'DBU'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DESC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LIMIT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10;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DFA80A0-21EB-852E-5390-1E155ADF403F}"/>
              </a:ext>
            </a:extLst>
          </p:cNvPr>
          <p:cNvSpPr txBox="1"/>
          <p:nvPr/>
        </p:nvSpPr>
        <p:spPr>
          <a:xfrm>
            <a:off x="5076056" y="4720559"/>
            <a:ext cx="40679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request_params.table_full_name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count(*)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“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"251008@gmail.com"</a:t>
            </a:r>
            <a:endParaRPr lang="en-U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 LIMIT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10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;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39281C94-3A51-A705-01F1-1B1C97D9066C}"/>
              </a:ext>
            </a:extLst>
          </p:cNvPr>
          <p:cNvSpPr txBox="1">
            <a:spLocks/>
          </p:cNvSpPr>
          <p:nvPr/>
        </p:nvSpPr>
        <p:spPr>
          <a:xfrm>
            <a:off x="628650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¿Cuál es la tendencia de consumo diaria en </a:t>
            </a:r>
            <a:r>
              <a:rPr lang="es-ES" sz="1200" b="1" dirty="0" err="1">
                <a:latin typeface="Montserrat" panose="00000500000000000000" pitchFamily="2" charset="0"/>
              </a:rPr>
              <a:t>DBUs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9ED23637-3BEE-054D-0E8B-36F86F76D98D}"/>
              </a:ext>
            </a:extLst>
          </p:cNvPr>
          <p:cNvSpPr txBox="1">
            <a:spLocks/>
          </p:cNvSpPr>
          <p:nvPr/>
        </p:nvSpPr>
        <p:spPr>
          <a:xfrm>
            <a:off x="5076056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TOP 10 usuarios que más </a:t>
            </a:r>
            <a:r>
              <a:rPr lang="es-ES" sz="1200" b="1" dirty="0" err="1">
                <a:latin typeface="Montserrat" panose="00000500000000000000" pitchFamily="2" charset="0"/>
              </a:rPr>
              <a:t>DBUs</a:t>
            </a:r>
            <a:r>
              <a:rPr lang="es-ES" sz="1200" b="1" dirty="0">
                <a:latin typeface="Montserrat" panose="00000500000000000000" pitchFamily="2" charset="0"/>
              </a:rPr>
              <a:t> consumen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978F89A4-1D57-6394-783D-CDBA9766DF3D}"/>
              </a:ext>
            </a:extLst>
          </p:cNvPr>
          <p:cNvSpPr txBox="1">
            <a:spLocks/>
          </p:cNvSpPr>
          <p:nvPr/>
        </p:nvSpPr>
        <p:spPr>
          <a:xfrm>
            <a:off x="628650" y="432940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</a:t>
            </a:r>
            <a:r>
              <a:rPr lang="es-ES" sz="1200" b="1" dirty="0" err="1">
                <a:latin typeface="Montserrat" panose="00000500000000000000" pitchFamily="2" charset="0"/>
              </a:rPr>
              <a:t>JOBs</a:t>
            </a:r>
            <a:r>
              <a:rPr lang="es-ES" sz="1200" b="1" dirty="0">
                <a:latin typeface="Montserrat" panose="00000500000000000000" pitchFamily="2" charset="0"/>
              </a:rPr>
              <a:t> consumieron más </a:t>
            </a:r>
            <a:r>
              <a:rPr lang="es-ES" sz="1200" b="1" dirty="0" err="1">
                <a:latin typeface="Montserrat" panose="00000500000000000000" pitchFamily="2" charset="0"/>
              </a:rPr>
              <a:t>DBUs</a:t>
            </a:r>
            <a:r>
              <a:rPr lang="es-ES" sz="1200" b="1" dirty="0">
                <a:latin typeface="Montserrat" panose="00000500000000000000" pitchFamily="2" charset="0"/>
              </a:rPr>
              <a:t>?</a:t>
            </a:r>
          </a:p>
        </p:txBody>
      </p:sp>
      <p:sp>
        <p:nvSpPr>
          <p:cNvPr id="13" name="Marcador de contenido 3">
            <a:extLst>
              <a:ext uri="{FF2B5EF4-FFF2-40B4-BE49-F238E27FC236}">
                <a16:creationId xmlns:a16="http://schemas.microsoft.com/office/drawing/2014/main" id="{41BC5F5D-A032-D1BE-BFC7-23A9853D3C9B}"/>
              </a:ext>
            </a:extLst>
          </p:cNvPr>
          <p:cNvSpPr txBox="1">
            <a:spLocks/>
          </p:cNvSpPr>
          <p:nvPr/>
        </p:nvSpPr>
        <p:spPr>
          <a:xfrm>
            <a:off x="5051854" y="4306152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tablas accede el usuario con más </a:t>
            </a:r>
            <a:r>
              <a:rPr lang="es-ES" sz="1200" b="1" dirty="0" err="1">
                <a:latin typeface="Montserrat" panose="00000500000000000000" pitchFamily="2" charset="0"/>
              </a:rPr>
              <a:t>frecuncia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3" name="Estrella: 5 puntas 2">
            <a:extLst>
              <a:ext uri="{FF2B5EF4-FFF2-40B4-BE49-F238E27FC236}">
                <a16:creationId xmlns:a16="http://schemas.microsoft.com/office/drawing/2014/main" id="{8CDC6D19-D654-0FA4-C100-DC6B6E7994B4}"/>
              </a:ext>
            </a:extLst>
          </p:cNvPr>
          <p:cNvSpPr/>
          <p:nvPr/>
        </p:nvSpPr>
        <p:spPr>
          <a:xfrm>
            <a:off x="429002" y="2184482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strella: 5 puntas 9">
            <a:extLst>
              <a:ext uri="{FF2B5EF4-FFF2-40B4-BE49-F238E27FC236}">
                <a16:creationId xmlns:a16="http://schemas.microsoft.com/office/drawing/2014/main" id="{7BB2D95C-D22F-439E-FC40-C142826431E8}"/>
              </a:ext>
            </a:extLst>
          </p:cNvPr>
          <p:cNvSpPr/>
          <p:nvPr/>
        </p:nvSpPr>
        <p:spPr>
          <a:xfrm>
            <a:off x="429002" y="4312057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5569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C179A5-0BC4-3243-26B7-C34F743693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6097A7-83D0-0570-A5A1-FA9C93D755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8EAEE80-93F8-04A2-CC4A-083FF884C675}"/>
              </a:ext>
            </a:extLst>
          </p:cNvPr>
          <p:cNvSpPr/>
          <p:nvPr/>
        </p:nvSpPr>
        <p:spPr>
          <a:xfrm rot="19823893">
            <a:off x="522462" y="1694023"/>
            <a:ext cx="1944216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PENDIENTE</a:t>
            </a:r>
          </a:p>
        </p:txBody>
      </p:sp>
      <p:sp>
        <p:nvSpPr>
          <p:cNvPr id="7" name="Google Shape;303;g35ee5cc475b_0_63">
            <a:extLst>
              <a:ext uri="{FF2B5EF4-FFF2-40B4-BE49-F238E27FC236}">
                <a16:creationId xmlns:a16="http://schemas.microsoft.com/office/drawing/2014/main" id="{D5770971-740D-6ECC-D302-58E840061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Tables: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Lineage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204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86DC0-B46F-A4AF-7631-A4FD2D3F3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CE353D08-7B61-D492-E544-BB5C4942F9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Tables: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Dashboard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37AD934-196F-2FEE-890E-CD0E27F43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412" y="1124744"/>
            <a:ext cx="6535175" cy="3672408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36E9FA19-4964-0551-C607-7573E26F93DF}"/>
              </a:ext>
            </a:extLst>
          </p:cNvPr>
          <p:cNvSpPr/>
          <p:nvPr/>
        </p:nvSpPr>
        <p:spPr>
          <a:xfrm>
            <a:off x="827584" y="5189656"/>
            <a:ext cx="7615758" cy="543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  <a:latin typeface="Montserrat" panose="00000500000000000000" pitchFamily="2" charset="0"/>
              </a:rPr>
              <a:t>En la sesión de hoy disponiendo de las tablas de sistema, crearemos un </a:t>
            </a:r>
            <a:r>
              <a:rPr lang="es-ES" sz="1050" dirty="0" err="1">
                <a:solidFill>
                  <a:schemeClr val="tx1"/>
                </a:solidFill>
                <a:latin typeface="Montserrat" panose="00000500000000000000" pitchFamily="2" charset="0"/>
              </a:rPr>
              <a:t>dashboard</a:t>
            </a:r>
            <a:r>
              <a:rPr lang="es-ES" sz="1050" dirty="0">
                <a:solidFill>
                  <a:schemeClr val="tx1"/>
                </a:solidFill>
                <a:latin typeface="Montserrat" panose="00000500000000000000" pitchFamily="2" charset="0"/>
              </a:rPr>
              <a:t> representando los costes que hemos consumido hasta ahora</a:t>
            </a:r>
          </a:p>
        </p:txBody>
      </p:sp>
    </p:spTree>
    <p:extLst>
      <p:ext uri="{BB962C8B-B14F-4D97-AF65-F5344CB8AC3E}">
        <p14:creationId xmlns:p14="http://schemas.microsoft.com/office/powerpoint/2010/main" val="3208625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A986F-7CB9-0D35-4B90-EB6698118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4A71DADE-CF84-A6F8-BFE7-D1E2B646EF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Data </a:t>
            </a:r>
            <a:r>
              <a:rPr lang="es-ES" dirty="0" err="1">
                <a:latin typeface="Montserrat" panose="00000500000000000000" pitchFamily="2" charset="0"/>
              </a:rPr>
              <a:t>Quality</a:t>
            </a:r>
            <a:r>
              <a:rPr lang="es-ES" dirty="0">
                <a:latin typeface="Montserrat" panose="00000500000000000000" pitchFamily="2" charset="0"/>
              </a:rPr>
              <a:t> &amp; </a:t>
            </a:r>
            <a:r>
              <a:rPr lang="es-ES" dirty="0" err="1">
                <a:latin typeface="Montserrat" panose="00000500000000000000" pitchFamily="2" charset="0"/>
              </a:rPr>
              <a:t>Monitoring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INTRO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4C3EA8E-EEB0-246A-FDF2-63EEDBD155D7}"/>
              </a:ext>
            </a:extLst>
          </p:cNvPr>
          <p:cNvSpPr/>
          <p:nvPr/>
        </p:nvSpPr>
        <p:spPr>
          <a:xfrm rot="19823893">
            <a:off x="522462" y="1694023"/>
            <a:ext cx="1944216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PENDIENTE</a:t>
            </a:r>
          </a:p>
        </p:txBody>
      </p:sp>
    </p:spTree>
    <p:extLst>
      <p:ext uri="{BB962C8B-B14F-4D97-AF65-F5344CB8AC3E}">
        <p14:creationId xmlns:p14="http://schemas.microsoft.com/office/powerpoint/2010/main" val="722542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7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CuadroTexto"/>
          <p:cNvSpPr txBox="1"/>
          <p:nvPr/>
        </p:nvSpPr>
        <p:spPr>
          <a:xfrm>
            <a:off x="3833047" y="5507940"/>
            <a:ext cx="1477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www.ceste.es</a:t>
            </a:r>
          </a:p>
        </p:txBody>
      </p:sp>
      <p:pic>
        <p:nvPicPr>
          <p:cNvPr id="12" name="11 Imagen" descr="CESTE blanco estrella roj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64000" y="2348880"/>
            <a:ext cx="3816424" cy="18259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4" ma:contentTypeDescription="Crear nuevo documento." ma:contentTypeScope="" ma:versionID="499295a40b32042ffc1aa18e52107fb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cacbbaa88dffef174e809ab62d2fa790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Props1.xml><?xml version="1.0" encoding="utf-8"?>
<ds:datastoreItem xmlns:ds="http://schemas.openxmlformats.org/officeDocument/2006/customXml" ds:itemID="{6FDDB250-E753-47E4-8ED1-CAC7AD183E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57BF0C9-4CDD-43A3-8A95-A49D62C2F2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4c3f89-b1e2-4b5c-81e1-9b07710f5189"/>
    <ds:schemaRef ds:uri="ce845bb0-6f82-4cf9-8b02-3916bb6268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79858A-5E67-489D-9BB4-CD604D981F2A}">
  <ds:schemaRefs>
    <ds:schemaRef ds:uri="http://schemas.microsoft.com/office/2006/metadata/properties"/>
    <ds:schemaRef ds:uri="http://schemas.microsoft.com/office/infopath/2007/PartnerControls"/>
    <ds:schemaRef ds:uri="e24c3f89-b1e2-4b5c-81e1-9b07710f5189"/>
    <ds:schemaRef ds:uri="ce845bb0-6f82-4cf9-8b02-3916bb6268d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19990</TotalTime>
  <Words>1739</Words>
  <Application>Microsoft Office PowerPoint</Application>
  <PresentationFormat>Presentación en pantalla (4:3)</PresentationFormat>
  <Paragraphs>257</Paragraphs>
  <Slides>17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Montserrat</vt:lpstr>
      <vt:lpstr>Sans Serif Collection</vt:lpstr>
      <vt:lpstr>Diseño personalizado</vt:lpstr>
      <vt:lpstr>Presentación de PowerPoint</vt:lpstr>
      <vt:lpstr>Indice de la Sesión 3</vt:lpstr>
      <vt:lpstr>Presentación de PowerPoint</vt:lpstr>
      <vt:lpstr>0. Introducción a UC | Continuamos con…</vt:lpstr>
      <vt:lpstr>1. Data Lineage | ¿Porque es data lineage importante?</vt:lpstr>
      <vt:lpstr>2. Data Sharing | Opciones disponibles</vt:lpstr>
      <vt:lpstr>2. Data Sharing | Delta Sharing</vt:lpstr>
      <vt:lpstr>2. Data Sharing | Data Marketplace</vt:lpstr>
      <vt:lpstr>2. Data Sharing | Databricks Clean Rooms</vt:lpstr>
      <vt:lpstr>3. Auditoria de datos | Systems Tables</vt:lpstr>
      <vt:lpstr>3 Auditoria de datos | Systems Tables: Objects Metadata</vt:lpstr>
      <vt:lpstr>3 Auditoria de datos | Systems Tables: Audit Logs</vt:lpstr>
      <vt:lpstr>3 Auditoria de datos | Systems Tables: Billing Logs</vt:lpstr>
      <vt:lpstr>3 Auditoria de datos | Systems Tables: Lineage</vt:lpstr>
      <vt:lpstr>3 Auditoria de datos | Systems Tables: Dashboard</vt:lpstr>
      <vt:lpstr>3 Data Quality &amp; Monitoring | INTRO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psoria</dc:creator>
  <cp:lastModifiedBy>Javier Martínez Morales</cp:lastModifiedBy>
  <cp:revision>447</cp:revision>
  <cp:lastPrinted>2018-06-15T07:54:48Z</cp:lastPrinted>
  <dcterms:created xsi:type="dcterms:W3CDTF">2014-05-13T08:36:54Z</dcterms:created>
  <dcterms:modified xsi:type="dcterms:W3CDTF">2025-11-01T18:29:42Z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</Properties>
</file>